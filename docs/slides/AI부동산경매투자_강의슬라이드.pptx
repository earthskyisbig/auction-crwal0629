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경매의 구조, 용어, 절차, 그리고 함정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22529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225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· 절차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75688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75688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 용어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50108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50108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· 채권 · 배당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60620" y="3520440"/>
            <a:ext cx="143560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60620" y="3520440"/>
            <a:ext cx="1435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6대 문서 · 함정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0175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895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권리분석·명도가 수익의 핵심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96519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경쟁 정보가 적어 기회 여지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강의에서는 둘 다 크롤링합니다 — 모듈 03(법원경매) · 04(온비드)에서 하나의 물건 DB로 통합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한눈에 — 신청부터 명도까지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 rot="5400000">
            <a:off x="2423160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1" name="Shape 9"/>
          <p:cNvSpPr/>
          <p:nvPr/>
        </p:nvSpPr>
        <p:spPr>
          <a:xfrm>
            <a:off x="2587752" y="1417320"/>
            <a:ext cx="1883664" cy="1170432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87752" y="141732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1"/>
          <p:cNvSpPr/>
          <p:nvPr/>
        </p:nvSpPr>
        <p:spPr>
          <a:xfrm>
            <a:off x="2734056" y="155448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2734056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36392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734056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권리분석의 기준 시점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507992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8" name="Shape 16"/>
          <p:cNvSpPr/>
          <p:nvPr/>
        </p:nvSpPr>
        <p:spPr>
          <a:xfrm>
            <a:off x="4672584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72584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8"/>
          <p:cNvSpPr/>
          <p:nvPr/>
        </p:nvSpPr>
        <p:spPr>
          <a:xfrm>
            <a:off x="4818888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4818888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21224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18888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· 점유관계 확정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rot="5400000">
            <a:off x="6592824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5" name="Shape 23"/>
          <p:cNvSpPr/>
          <p:nvPr/>
        </p:nvSpPr>
        <p:spPr>
          <a:xfrm>
            <a:off x="6757416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57416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6903720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06056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903720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물건명세서 공개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2971800"/>
            <a:ext cx="1883664" cy="1170432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02920" y="29718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9224" y="310896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51560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9224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최고가매수신고인 결정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 rot="5400000">
            <a:off x="2423160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8" name="Shape 36"/>
          <p:cNvSpPr/>
          <p:nvPr/>
        </p:nvSpPr>
        <p:spPr>
          <a:xfrm>
            <a:off x="2587752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587752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0" name="Shape 38"/>
          <p:cNvSpPr/>
          <p:nvPr/>
        </p:nvSpPr>
        <p:spPr>
          <a:xfrm>
            <a:off x="2734056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1" name="Text 39"/>
          <p:cNvSpPr/>
          <p:nvPr/>
        </p:nvSpPr>
        <p:spPr>
          <a:xfrm>
            <a:off x="2734056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136392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734056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 시 소유권 취득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 rot="5400000">
            <a:off x="4507992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5" name="Shape 43"/>
          <p:cNvSpPr/>
          <p:nvPr/>
        </p:nvSpPr>
        <p:spPr>
          <a:xfrm>
            <a:off x="4672584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672584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7" name="Shape 45"/>
          <p:cNvSpPr/>
          <p:nvPr/>
        </p:nvSpPr>
        <p:spPr>
          <a:xfrm>
            <a:off x="4818888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8" name="Text 46"/>
          <p:cNvSpPr/>
          <p:nvPr/>
        </p:nvSpPr>
        <p:spPr>
          <a:xfrm>
            <a:off x="4818888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21224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818888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채권자들에게 순위대로 분배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 rot="5400000">
            <a:off x="6592824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2" name="Shape 50"/>
          <p:cNvSpPr/>
          <p:nvPr/>
        </p:nvSpPr>
        <p:spPr>
          <a:xfrm>
            <a:off x="6757416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757416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4" name="Shape 52"/>
          <p:cNvSpPr/>
          <p:nvPr/>
        </p:nvSpPr>
        <p:spPr>
          <a:xfrm>
            <a:off x="6903720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55" name="Text 53"/>
          <p:cNvSpPr/>
          <p:nvPr/>
        </p:nvSpPr>
        <p:spPr>
          <a:xfrm>
            <a:off x="6903720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306056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903720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점유자 내보내기 — 인도명령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주황 단계가 투자자의 승부처 — 배당요구종기로 권리를 읽고, 입찰가로 수익을 결정합니다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압류 · 가압류 · 담보가등기 · 경매개시결정등기 중 등기부상 가장 먼저 설정된 것이 말소기준권리입니다. 낙찰되면 말소기준권리와 그보다 늦은 권리는 전부 소멸(말소)되고, 그보다 빠른 권리만 낙찰자가 인수합니다.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22960" y="278892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68833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45720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28416" y="268833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21945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265176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522976" y="268833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1945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484632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0376" y="268833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03720" y="21945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90372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611880"/>
            <a:ext cx="8138160" cy="96012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758184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097280" y="3685032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만약 임차인 전입일이 2018년(근저당보다 빠름)이었다면?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말소기준권리보다 선순위 → 대항력 있음 → 낙찰자가 보증금을 인수해야 합니다.
</a:t>
            </a:r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판단법은 단 하나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날짜를 비교합니다 — 말소기준권리보다 빠르면 인수, 늦으면 소멸.</a:t>
            </a:r>
            <a:endParaRPr lang="en-US" sz="1030" dirty="0"/>
          </a:p>
        </p:txBody>
      </p:sp>
      <p:sp>
        <p:nvSpPr>
          <p:cNvPr id="25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3502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2405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3794760" y="12984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502920" y="1709928"/>
            <a:ext cx="8138160" cy="365760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099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3794760" y="170992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2121408"/>
            <a:ext cx="8138160" cy="365760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15798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14701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1214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3794760" y="21214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부동산에 부과된 국세·지방세 (상속세 · 증여세 · 종부세 등)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2532888"/>
            <a:ext cx="8138160" cy="365760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56946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55849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532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설정일 순위배당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3794760" y="253288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확정일자부 임차인 — 등기/확정일자 빠른 순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2944368"/>
            <a:ext cx="8138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98094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29699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9443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3794760" y="294436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02920" y="3355848"/>
            <a:ext cx="8138160" cy="365760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39242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38145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3558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3794760" y="33558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767328"/>
            <a:ext cx="8138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6072" y="38039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76072" y="37929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78408" y="3767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3794760" y="376732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502920" y="4251960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당해세는 근저당보다 늦게 부과돼도 3순위로 먼저 배당됩니다 — 인수금 계산 시 반드시 확인.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3종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3종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2587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49224" y="160934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076" y="1709196"/>
            <a:ext cx="184343" cy="18434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60020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9224" y="199339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현황·인수권리를 법원이 공식 기재. 가장 신뢰도 높은 문서.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3319272" y="1481328"/>
            <a:ext cx="2587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19272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3465576" y="160934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428" y="1709196"/>
            <a:ext cx="184343" cy="18434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922776" y="160020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3465576" y="199339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 — 점유자·임대차 관계 1차 정보.</a:t>
            </a:r>
            <a:endParaRPr lang="en-US" sz="830" dirty="0"/>
          </a:p>
        </p:txBody>
      </p:sp>
      <p:sp>
        <p:nvSpPr>
          <p:cNvPr id="18" name="Shape 14"/>
          <p:cNvSpPr/>
          <p:nvPr/>
        </p:nvSpPr>
        <p:spPr>
          <a:xfrm>
            <a:off x="6135624" y="1481328"/>
            <a:ext cx="2587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35624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81928" y="160934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80" y="1709196"/>
            <a:ext cx="184343" cy="18434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739128" y="160020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281928" y="199339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— 위치·구조·주변 시세 자료.</a:t>
            </a:r>
            <a:endParaRPr lang="en-US" sz="830" dirty="0"/>
          </a:p>
        </p:txBody>
      </p:sp>
      <p:sp>
        <p:nvSpPr>
          <p:cNvPr id="24" name="Shape 19"/>
          <p:cNvSpPr/>
          <p:nvPr/>
        </p:nvSpPr>
        <p:spPr>
          <a:xfrm>
            <a:off x="502920" y="2852928"/>
            <a:ext cx="2587752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02920" y="2852928"/>
            <a:ext cx="64008" cy="11430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6" name="Shape 21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076" y="3080796"/>
            <a:ext cx="184343" cy="184343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106424" y="297180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2523744" y="2944368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0" name="Text 24"/>
          <p:cNvSpPr/>
          <p:nvPr/>
        </p:nvSpPr>
        <p:spPr>
          <a:xfrm>
            <a:off x="2523744" y="29443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649224" y="3364992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 기록 — 말소기준권리를 직접 확인하는, 사실상 권리분석의 핵심 문서.</a:t>
            </a:r>
            <a:endParaRPr lang="en-US" sz="830" dirty="0"/>
          </a:p>
        </p:txBody>
      </p:sp>
      <p:sp>
        <p:nvSpPr>
          <p:cNvPr id="32" name="Shape 26"/>
          <p:cNvSpPr/>
          <p:nvPr/>
        </p:nvSpPr>
        <p:spPr>
          <a:xfrm>
            <a:off x="3319272" y="2852928"/>
            <a:ext cx="2587752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3319272" y="2852928"/>
            <a:ext cx="64008" cy="11430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Shape 28"/>
          <p:cNvSpPr/>
          <p:nvPr/>
        </p:nvSpPr>
        <p:spPr>
          <a:xfrm>
            <a:off x="3465576" y="2980944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5428" y="3080796"/>
            <a:ext cx="184343" cy="184343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3922776" y="297180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1150" dirty="0"/>
          </a:p>
        </p:txBody>
      </p:sp>
      <p:sp>
        <p:nvSpPr>
          <p:cNvPr id="37" name="Text 30"/>
          <p:cNvSpPr/>
          <p:nvPr/>
        </p:nvSpPr>
        <p:spPr>
          <a:xfrm>
            <a:off x="3465576" y="3364992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 경매계 확인. 이해관계인에게 서류가 언제 송달됐는지 — 배당요구 시점 등 절차 확인.</a:t>
            </a:r>
            <a:endParaRPr lang="en-US" sz="830" dirty="0"/>
          </a:p>
        </p:txBody>
      </p:sp>
      <p:sp>
        <p:nvSpPr>
          <p:cNvPr id="38" name="Shape 31"/>
          <p:cNvSpPr/>
          <p:nvPr/>
        </p:nvSpPr>
        <p:spPr>
          <a:xfrm>
            <a:off x="6135624" y="2852928"/>
            <a:ext cx="2587752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6135624" y="2852928"/>
            <a:ext cx="64008" cy="11430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6281928" y="2980944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780" y="3080796"/>
            <a:ext cx="184343" cy="184343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739128" y="297180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150" dirty="0"/>
          </a:p>
        </p:txBody>
      </p:sp>
      <p:sp>
        <p:nvSpPr>
          <p:cNvPr id="43" name="Text 35"/>
          <p:cNvSpPr/>
          <p:nvPr/>
        </p:nvSpPr>
        <p:spPr>
          <a:xfrm>
            <a:off x="6281928" y="3364992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외국인체류확인서). 실제 전입 세대·전입일 확인 — 위장·무단전입도 걸러냄.</a:t>
            </a:r>
            <a:endParaRPr lang="en-US" sz="8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나에게 맞는 전략부터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6696" y="1481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1682496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081528" y="1481328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3081528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75304" y="148132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139696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213969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시세차익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94560" y="2340864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081528" y="213969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3081528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75304" y="21396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현금흐름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" y="2798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손품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94560" y="2999232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081528" y="2798064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3081528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75304" y="27980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자동화 위임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456432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6696" y="345643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회전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94560" y="3657600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81528" y="3456432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75304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보유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축 × 2 = 16가지 투자 유형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1417320"/>
            <a:ext cx="3611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029200" y="141732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5230368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85232" y="1965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12문항 성향 설문 설계시키기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응답 → 16유형 자동 판정 로직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유형별 추천 전략 매핑 (예: 안정+현금흐름 → 소형 아파트 월세 세팅)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유형이 이후 모든 실습의 필터가 됩니다 — 검색 조건, 대시보드 지표, 입찰 기준까지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2026-07-08T21:51:20Z</dcterms:created>
  <dcterms:modified xsi:type="dcterms:W3CDTF">2026-07-08T21:51:20Z</dcterms:modified>
</cp:coreProperties>
</file>