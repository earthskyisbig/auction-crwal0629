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101동</c:v>
                  </c:pt>
                  <c:pt idx="1">
                    <c:v>102동</c:v>
                  </c:pt>
                  <c:pt idx="2">
                    <c:v>103동</c:v>
                  </c:pt>
                  <c:pt idx="3">
                    <c:v>104동</c:v>
                  </c:pt>
                  <c:pt idx="4">
                    <c:v>105동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1620</c:v>
                </c:pt>
                <c:pt idx="1">
                  <c:v>1585</c:v>
                </c:pt>
                <c:pt idx="2">
                  <c:v>1710</c:v>
                </c:pt>
                <c:pt idx="3">
                  <c:v>1540</c:v>
                </c:pt>
                <c:pt idx="4">
                  <c:v>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개념·절차·권리분석·낙찰 이후까지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44752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44752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203704" y="3520440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03704" y="3520440"/>
            <a:ext cx="804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72968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72968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 · 규제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45770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5770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 용어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이후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물건은 왜 시장에 나왔나 — 세 가지 이유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‘경매의 종류’보다 ‘물건이 나오게 된 이유’로 접근하면 훨씬 직관적입니다. 크게 셋으로 나뉩니다.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채권회수형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5272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돈을 못 갚아서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은행·채권자가 담보 잡은 부동산을 팔아 회수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대출금·사채·보증채무·판결채무 미상환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임의경매 · 강제경매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600200"/>
            <a:ext cx="64008" cy="24231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17647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88366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4164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조세징수형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4164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세금을 안 내서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49300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국가·지자체가 체납 세금 걷으려 압류·매각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국세·지방세·건강보험료 등 체납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법원경매보다 공매(온비드)에서 많이</a:t>
            </a:r>
            <a:endParaRPr lang="en-US" sz="930" dirty="0"/>
          </a:p>
        </p:txBody>
      </p:sp>
      <p:sp>
        <p:nvSpPr>
          <p:cNvPr id="19" name="Shape 15"/>
          <p:cNvSpPr/>
          <p:nvPr/>
        </p:nvSpPr>
        <p:spPr>
          <a:xfrm>
            <a:off x="608076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6364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8836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3056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관계정리형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83056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소유자끼리 못 나눠서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28192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빚이 아니라 소유관계를 정리하려는 경매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상속·공동투자·이혼 등 지분 분쟁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공유물분할을 위한 형식적 경매</a:t>
            </a:r>
            <a:endParaRPr lang="en-US" sz="930" dirty="0"/>
          </a:p>
        </p:txBody>
      </p:sp>
      <p:sp>
        <p:nvSpPr>
          <p:cNvPr id="26" name="Text 2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여기에 청산·파산 등 ‘법률상 팔아서 정리하는’ 기타정리형까지 더하면 4분류가 됩니다.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6060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0759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O — 6개월 내 신청, 빠름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13832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13832" y="18288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19456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명도: 인도명령 X — 명도소송 필요, 느림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114800"/>
            <a:ext cx="8138160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1148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공매에서 꼭 볼 것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인도명령이 없어 점유자가 안 나가면 명도소송으로만 해결 — 시간·비용 부담 큼   ② 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재산명세서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 체납 세금·압류 등 권리정보가 정리돼 있으니 반드시 확인.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— 매각기일을 경계로 주인공이 바뀐다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8138160" cy="31089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25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前  </a:t>
            </a:r>
            <a:pPr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채권자와 법원이 절차를 만든다 — 입찰자는 지켜보는 단계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9669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 신청 → 법원 압류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14016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15768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8152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2715768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기한 지정·공고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98848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2584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집행관·감정인 조사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 rot="5400000">
            <a:off x="6583680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7" name="Shape 25"/>
          <p:cNvSpPr/>
          <p:nvPr/>
        </p:nvSpPr>
        <p:spPr>
          <a:xfrm>
            <a:off x="6757416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88543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688543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5119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 · 서류비치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6885432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 서류 공개(준비 시작)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02920" y="2798064"/>
            <a:ext cx="8138160" cy="310896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279806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後  </a:t>
            </a:r>
            <a:pPr indent="0" marL="0">
              <a:buNone/>
            </a:pPr>
            <a:r>
              <a:rPr lang="en-US" sz="1050" dirty="0">
                <a:solidFill>
                  <a:srgbClr val="FDE3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입찰자와 법원이 움직인다 — 여기서부터가 투자자의 시간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6696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개찰(매각기일)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30936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 입찰 → 최고가 결정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 rot="5400000">
            <a:off x="2414016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2" name="Shape 40"/>
          <p:cNvSpPr/>
          <p:nvPr/>
        </p:nvSpPr>
        <p:spPr>
          <a:xfrm>
            <a:off x="2587752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587752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5768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5" name="Text 43"/>
          <p:cNvSpPr/>
          <p:nvPr/>
        </p:nvSpPr>
        <p:spPr>
          <a:xfrm>
            <a:off x="2715768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81528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2715768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대금 완납 → 소유권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 rot="5400000">
            <a:off x="4498848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72584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2" name="Text 50"/>
          <p:cNvSpPr/>
          <p:nvPr/>
        </p:nvSpPr>
        <p:spPr>
          <a:xfrm>
            <a:off x="4800600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4800600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순위대로 분배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 rot="5400000">
            <a:off x="6583680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6" name="Shape 54"/>
          <p:cNvSpPr/>
          <p:nvPr/>
        </p:nvSpPr>
        <p:spPr>
          <a:xfrm>
            <a:off x="6757416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57416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8" name="Shape 56"/>
          <p:cNvSpPr/>
          <p:nvPr/>
        </p:nvSpPr>
        <p:spPr>
          <a:xfrm>
            <a:off x="6885432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9" name="Text 57"/>
          <p:cNvSpPr/>
          <p:nvPr/>
        </p:nvSpPr>
        <p:spPr>
          <a:xfrm>
            <a:off x="6885432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51192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980" dirty="0"/>
          </a:p>
        </p:txBody>
      </p:sp>
      <p:sp>
        <p:nvSpPr>
          <p:cNvPr id="61" name="Text 59"/>
          <p:cNvSpPr/>
          <p:nvPr/>
        </p:nvSpPr>
        <p:spPr>
          <a:xfrm>
            <a:off x="6885432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협의·인도명령</a:t>
            </a:r>
            <a:endParaRPr lang="en-US" sz="830" dirty="0"/>
          </a:p>
        </p:txBody>
      </p:sp>
      <p:sp>
        <p:nvSpPr>
          <p:cNvPr id="62" name="Text 6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본격적으로 움직이는 건 매각공고(4단계)로 서류가 공개된 뒤부터입니다 — 그 전엔 사건 상태만 지켜보면 됩니다.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사건 상태 용어 — 취하·취소·기각·각하·변경·연기·정지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절차가 끝나는 경우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신청한 채권자가 스스로 철회 (채무자가 빚을 갚은 경우 등)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58318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318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1" name="Text 9"/>
          <p:cNvSpPr/>
          <p:nvPr/>
        </p:nvSpPr>
        <p:spPr>
          <a:xfrm>
            <a:off x="272948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948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절차 자체에 하자가 있다고 보아 무효화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66344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974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 서류·자격 요건 미비 — 내용 검토 없이 반려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74370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4370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689000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000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서류는 갖췄으나 내용을 검토한 결과 이유 없음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029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절차는 계속되지만 잠깐 바뀌는 경우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매각기일·매각조건 등이 조정됨 (절차는 유지)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19272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19272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83864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매각기일이 뒤로 미뤄짐 (일정만 지연)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35624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35624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0216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0216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이의신청 등으로 절차를 잠시 멈춤 (재개 가능)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 vs 기각 — 각하는 서류·자격부터 틀려 읽어보지도 않고 반려, 기각은 내용을 다 본 뒤 이유 없다고 거절.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 vs 임차권 — 물권이냐 채권이냐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민법상 물권 (등기로 성립)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내고 사용·수익 + 등기 → 누구에게나 대항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우선변제권: 등기 자체로 확보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전세금 미반환 시 스스로 경매신청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 가도 등기가 남아 권리 유지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임대차계약상 채권 (+주임법)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원래는 계약 당사자끼리만 — 집 팔리면 대항 불가가 원칙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→ 대항력 / +확정일자 → 우선변제권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경매신청권 없음 → 집행권원 먼저 확보해야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이사(전출)하면 대항력 끊길 위험 → 임차권등기로 보존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채권의 물권화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임차권은 원래 채권이지만, 주임법이 ‘인도+전입신고’만으로 물권 비슷한 대항력을 줍니다.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069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b="1" i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 </a:t>
            </a:r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‘돈을 빌려주며 담보로 설정한 권리’가 곧 말소기준권리 후보 — 이 중 등기부상 가장 빠른 것이 기준점입니다.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전세권·가등기 — 소멸? 인수? 구분하는 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179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전세권이 소멸(말소기준)하려면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22376" y="1883664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선순위 — 저당권·가압류보다 먼저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건물(목적물) 전체에 설정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배당요구 또는 스스로 경매신청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3611880" cy="1024128"/>
          </a:xfrm>
          <a:prstGeom prst="rect">
            <a:avLst/>
          </a:prstGeom>
          <a:solidFill>
            <a:srgbClr val="FDEFE5"/>
          </a:solidFill>
          <a:ln/>
        </p:spPr>
      </p:sp>
      <p:sp>
        <p:nvSpPr>
          <p:cNvPr id="9" name="Text 7"/>
          <p:cNvSpPr/>
          <p:nvPr/>
        </p:nvSpPr>
        <p:spPr>
          <a:xfrm>
            <a:off x="832104" y="2999232"/>
            <a:ext cx="33375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셋 다 갖추면 소멸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, 하나라도 빠지면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인수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. 특히 배당요구·경매신청을 안 한 선순위 전세권은 그대로 인수 위험으로 남습니다.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5230368" y="15179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가등기, 다 같은 가등기가 아니다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30368" y="1865376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담보가등기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 빌려주며 담보로 설정 → 저당권처럼 배당받고 소멸 (안전)
</a:t>
            </a:r>
            <a:pPr indent="0" marL="0">
              <a:lnSpc>
                <a:spcPct val="120000"/>
              </a:lnSpc>
              <a:buNone/>
            </a:pPr>
            <a:r>
              <a:rPr lang="en-US" sz="9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순위보전 가등기  </a:t>
            </a:r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소유권이전청구권 보전 → 경매로 안 지워질 수 있음. 낙찰 후 본등기 시 소유권이 밀려날 위험 (위험)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230368" y="3200400"/>
            <a:ext cx="3246120" cy="749808"/>
          </a:xfrm>
          <a:prstGeom prst="rect">
            <a:avLst/>
          </a:prstGeom>
          <a:solidFill>
            <a:srgbClr val="F3ECE0"/>
          </a:solidFill>
          <a:ln/>
        </p:spPr>
      </p:sp>
      <p:sp>
        <p:nvSpPr>
          <p:cNvPr id="15" name="Text 13"/>
          <p:cNvSpPr/>
          <p:nvPr/>
        </p:nvSpPr>
        <p:spPr>
          <a:xfrm>
            <a:off x="5376672" y="3255264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구분법  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 비고란 확인 → 가등기권자가 채권신고에 응답 안 하면 순위보전(인수) 의심.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‘전세권·가등기’가 선순위로 보이면 무조건 위험한 게 아니라 — 요건·성격을 따져 소멸/인수를 판정합니다.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· 우선변제권 · 최우선변제권 — 요건과 효력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(다음 날 0시부터)</a:t>
            </a:r>
            <a:endParaRPr lang="en-US" sz="860" dirty="0"/>
          </a:p>
        </p:txBody>
      </p:sp>
      <p:sp>
        <p:nvSpPr>
          <p:cNvPr id="10" name="Text 7"/>
          <p:cNvSpPr/>
          <p:nvPr/>
        </p:nvSpPr>
        <p:spPr>
          <a:xfrm>
            <a:off x="72237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낙찰자에게 임대차를 주장할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선순위면 못 받은 보증금을 낙찰자가 인수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배당요구와 무관하게 유지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4164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47472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대항요건 + 확정일자</a:t>
            </a:r>
            <a:endParaRPr lang="en-US" sz="860" dirty="0"/>
          </a:p>
        </p:txBody>
      </p:sp>
      <p:sp>
        <p:nvSpPr>
          <p:cNvPr id="17" name="Text 13"/>
          <p:cNvSpPr/>
          <p:nvPr/>
        </p:nvSpPr>
        <p:spPr>
          <a:xfrm>
            <a:off x="351129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배당에서 후순위보다 먼저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순위는 대항요건일·확정일자 중 늦은 날 기준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배당요구종기까지 배당요구 필요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6364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65506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056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최우선변제권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26364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+ 대항요건 + 배당요구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630021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순위와 무관하게 일정액 최우선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불필요 — 별개의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기준 이내여야 성립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502920" y="3931920"/>
            <a:ext cx="8138160" cy="62179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88" y="393192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전입신고와 근저당이 같은 날이면 — 대항력은 다음 날 0시, 근저당은 당일 즉시 효력 → 근저당이 이겨 임차인은 후순위가 됩니다.</a:t>
            </a:r>
            <a:endParaRPr lang="en-US" sz="103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 · 토지이용계획원 — 등기부가 안 알려주는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등기부는 ‘권리관계’를 보여줍니다. 하지만 건물·토지의 ‘사실관계와 규제’는 다른 서류에 있습니다.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72768"/>
            <a:ext cx="64008" cy="25146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" y="175564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88640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6245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6245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건물의 사실관계(현황)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5895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면적·구조·용도·층별현황·사용승인일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표제부에 건폐율·용적률도 기재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위반건축물 표시 + 이행강제금 이력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집합건물은 전유부까지 확인 (호실 정보)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572768"/>
            <a:ext cx="64008" cy="25146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4910328" y="175564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886407"/>
            <a:ext cx="241402" cy="24140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6869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토지이용계획원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56869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토지에 걸린 규제·계획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96519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용도지역·지구단위계획 등 규제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가능 규모(건폐율·용적률 상한)의 근거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도로·공원 등 도시계획시설 저촉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토지이음(eum.go.kr)에서 열람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4224528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Text 16"/>
          <p:cNvSpPr/>
          <p:nvPr/>
        </p:nvSpPr>
        <p:spPr>
          <a:xfrm>
            <a:off x="704088" y="42245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vs 건축물대장이 다르면?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면적·용도는 건축물대장(사실관계)이 우선 — 등기부만 믿으면 실제 현황을 놓칩니다.</a:t>
            </a:r>
            <a:endParaRPr lang="en-US" sz="1030" dirty="0"/>
          </a:p>
        </p:txBody>
      </p:sp>
      <p:sp>
        <p:nvSpPr>
          <p:cNvPr id="21" name="Text 1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 · 건폐율 · 용적률 — 땅의 가치를 정하는 3요소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9144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6362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076" y="1663476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24712" y="18379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땅에 무엇을, 얼마나 지을 수 있는지 정하는 도시계획상 분류 (주거·상업·공업·녹지).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02920" y="2441448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441448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649224" y="2587752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76" y="2687604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24712" y="2560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24712" y="28620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건축면적(바닥) 비율 — 땅을 얼마나 넓게 덮는가.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502920" y="3465576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2920" y="3465576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649224" y="3611880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76" y="3711732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24712" y="3584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124712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지상층 연면적 비율 — 얼마나 높이(층수) 올릴 수 있는가.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5029200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용도지역 상한 (법정 최대 · 조례로 강화)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19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880" dirty="0"/>
          </a:p>
        </p:txBody>
      </p:sp>
      <p:sp>
        <p:nvSpPr>
          <p:cNvPr id="27" name="Shape 22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3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880" dirty="0"/>
          </a:p>
        </p:txBody>
      </p:sp>
      <p:sp>
        <p:nvSpPr>
          <p:cNvPr id="29" name="Shape 24"/>
          <p:cNvSpPr/>
          <p:nvPr/>
        </p:nvSpPr>
        <p:spPr>
          <a:xfrm>
            <a:off x="5029200" y="2066544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74920" y="206654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제1종전용주거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858000" y="2066544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903720" y="206654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7754112" y="2066544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799832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50~100%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5029200" y="2468880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5074920" y="24688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제2종일반주거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858000" y="2468880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903720" y="2468880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60%↓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7754112" y="2468880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7799832" y="24688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100~250%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029200" y="287121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074920" y="287121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제3종일반주거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6858000" y="2871216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6903720" y="287121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7754112" y="2871216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799832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100~300%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5029200" y="3273552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5074920" y="327355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준주거지역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858000" y="3273552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6903720" y="327355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70%↓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7754112" y="3273552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799832" y="32735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200~500%</a:t>
            </a:r>
            <a:endParaRPr lang="en-US" sz="850" dirty="0"/>
          </a:p>
        </p:txBody>
      </p:sp>
      <p:sp>
        <p:nvSpPr>
          <p:cNvPr id="53" name="Shape 48"/>
          <p:cNvSpPr/>
          <p:nvPr/>
        </p:nvSpPr>
        <p:spPr>
          <a:xfrm>
            <a:off x="5029200" y="3675888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5074920" y="36758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일반상업지역</a:t>
            </a:r>
            <a:endParaRPr lang="en-US" sz="850" dirty="0"/>
          </a:p>
        </p:txBody>
      </p:sp>
      <p:sp>
        <p:nvSpPr>
          <p:cNvPr id="55" name="Shape 50"/>
          <p:cNvSpPr/>
          <p:nvPr/>
        </p:nvSpPr>
        <p:spPr>
          <a:xfrm>
            <a:off x="6858000" y="3675888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903720" y="367588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80%↓</a:t>
            </a:r>
            <a:endParaRPr lang="en-US" sz="850" dirty="0"/>
          </a:p>
        </p:txBody>
      </p:sp>
      <p:sp>
        <p:nvSpPr>
          <p:cNvPr id="57" name="Shape 52"/>
          <p:cNvSpPr/>
          <p:nvPr/>
        </p:nvSpPr>
        <p:spPr>
          <a:xfrm>
            <a:off x="7754112" y="3675888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7799832" y="36758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~1,300%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5029200" y="41513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정확한 수치는 지자체 조례로 더 강화될 수 있어 토지이음에서 개별 확인 필수.</a:t>
            </a:r>
            <a:endParaRPr lang="en-US" sz="800" dirty="0"/>
          </a:p>
        </p:txBody>
      </p:sp>
      <p:sp>
        <p:nvSpPr>
          <p:cNvPr id="60" name="Text 55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재개발·재건축·꼬마빌딩 신축의 사업성은 결국 용적률에서 갈립니다 — ‘몇 층까지 올릴 수 있나’가 수익의 핵심.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2" name="Text 5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다중·다가구·다세대·연립·도생·생숙 — 6종 구분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35024"/>
            <a:ext cx="14173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557784" y="1335024"/>
            <a:ext cx="1307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20240" y="1335024"/>
            <a:ext cx="169164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1975104" y="1335024"/>
            <a:ext cx="1581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근거법 · 분류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11880" y="1335024"/>
            <a:ext cx="173736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3666744" y="1335024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 기준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49240" y="1335024"/>
            <a:ext cx="9601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404104" y="1335024"/>
            <a:ext cx="85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(개별매매)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309360" y="1335024"/>
            <a:ext cx="23317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364224" y="1335024"/>
            <a:ext cx="2221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포인트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1810512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181051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다중주택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1920240" y="1810512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181051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3611880" y="181051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85032" y="181051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5349240" y="1810512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22392" y="181051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309360" y="1810512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181051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취사시설 원칙 없음(고시원 유사)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02920" y="2231136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223113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1920240" y="2231136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2231136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611880" y="2231136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85032" y="2231136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 · 19세대↓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349240" y="2231136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22392" y="2231136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6309360" y="2231136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23113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전체 낙찰 → 세대별 권리분석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502920" y="2651760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65176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1920240" y="2651760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2651760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3611880" y="265176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85032" y="265176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660㎡↓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349240" y="2651760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22392" y="2651760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6309360" y="2651760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265176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호실 단위 낙찰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502920" y="3072384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" y="307238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1920240" y="3072384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93392" y="307238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3611880" y="3072384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85032" y="3072384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660㎡초과</a:t>
            </a:r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5349240" y="3072384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22392" y="3072384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6309360" y="3072384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2512" y="3072384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다세대보다 큰 ‘빌라’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502920" y="3493008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349300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도시형생활주택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1920240" y="3493008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93392" y="3493008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· 공동주택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3611880" y="349300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85032" y="349300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국민주택규모↓ 소형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5349240" y="3493008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22392" y="3493008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6309360" y="3493008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82512" y="3493008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주차기준 완화 → 주차난 확인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502920" y="3913632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76072" y="391363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생활숙박시설</a:t>
            </a:r>
            <a:endParaRPr lang="en-US" sz="930" dirty="0"/>
          </a:p>
        </p:txBody>
      </p:sp>
      <p:sp>
        <p:nvSpPr>
          <p:cNvPr id="66" name="Shape 64"/>
          <p:cNvSpPr/>
          <p:nvPr/>
        </p:nvSpPr>
        <p:spPr>
          <a:xfrm>
            <a:off x="1920240" y="3913632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993392" y="391363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숙박시설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3611880" y="3913632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85032" y="391363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(주택 아님)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5349240" y="3913632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22392" y="391363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6309360" y="3913632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82512" y="391363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주거·전입 제약, 대출 기준 상이</a:t>
            </a:r>
            <a:endParaRPr lang="en-US" sz="830" dirty="0"/>
          </a:p>
        </p:txBody>
      </p:sp>
      <p:sp>
        <p:nvSpPr>
          <p:cNvPr id="74" name="Text 72"/>
          <p:cNvSpPr/>
          <p:nvPr/>
        </p:nvSpPr>
        <p:spPr>
          <a:xfrm>
            <a:off x="502920" y="442569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차이 — 다가구(단독주택)는 구분등기 불가라 건물 전체가 통째로 경매되고, 다세대·연립·도생·생숙은 호실별 개별 매매·낙찰이 됩니다.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 — 근린생활시설을 주거로 쓰는 물건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근생주택이란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139696"/>
            <a:ext cx="3611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건축물대장상 용도가 ‘제1·2종 근린생활시설’인데 실제로는 주거로 쓰는 건물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상가주택 위층, 사무실 개조 원룸 등에서 흔함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겉보기엔 빌라·오피스텔과 구분이 안 됨 — 대장 용도로만 확인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‘주택’이 아니므로 세법·대출·청약에서 주택과 다르게 취급될 수 있음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572768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42432" y="15910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경매로 받을 때 조심할 것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285232" y="2139696"/>
            <a:ext cx="3200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불법 용도변경(주거)이면 위반건축물 → 이행강제금 승계 위험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주택담보대출이 아닌 상가 기준 → 대출한도 축소·거절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전입신고·대항력 인정 여부가 불확실 → 임차인 권리분석 복잡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 수 산정·양도세·청약 자격에서 예상과 다르게 처리될 수 있음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건축물대장 ‘용도’를 확인하세요 — 싸 보이는 이유가 근생일 때가 많습니다.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잔금 계획 — 경락잔금대출과 대금미납 리스크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경락잔금대출 — 낙찰 대금을 마련하는 대표 방법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532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4984" y="1645920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" y="1645920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179576" y="1645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前 대출 가능액 미리 가늠 (여러 기관 문의)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20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" y="2212848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212848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1179576" y="22128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매각허가결정 확정 후 신청·심사 진행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709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4984" y="2779776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" y="2779776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79576" y="27797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은행·저축은행 금리·한도·수수료 비교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64992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540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4984" y="3346704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" y="3346704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79576" y="3346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대금납부기한 안에 실행 완료되는지 확인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0292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LTV·DSR 규제·규제지역·다주택 여부에 따라 한도가 달라집니다 — 정확한 수치는 상담 시점 확인.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대금미납은 왜 생기나 — 원인별 정리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166420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0" y="166420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5193792" y="16642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 부족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309360" y="16642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규제·위반건축물 등으로 예상보다 한도 미달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0" y="221284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0" y="221284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5193792" y="22128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오류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309360" y="2212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 인수금을 놓치고 고가 낙찰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029200" y="276148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276148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Text 35"/>
          <p:cNvSpPr/>
          <p:nvPr/>
        </p:nvSpPr>
        <p:spPr>
          <a:xfrm>
            <a:off x="5193792" y="2761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 발견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309360" y="27614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임장에서 누수·유치권 등 새 하자 확인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5029200" y="331012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31012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1" name="Text 39"/>
          <p:cNvSpPr/>
          <p:nvPr/>
        </p:nvSpPr>
        <p:spPr>
          <a:xfrm>
            <a:off x="5193792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사정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6309360" y="3310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실직·건강 등 물건과 무관한 자금 차질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029200" y="3913632"/>
            <a:ext cx="3611880" cy="58521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4" name="Text 42"/>
          <p:cNvSpPr/>
          <p:nvPr/>
        </p:nvSpPr>
        <p:spPr>
          <a:xfrm>
            <a:off x="5193792" y="391363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미납의 대가  </a:t>
            </a:r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입찰보증금 몰수 + 재매각 (재매각은 보증금이 20~30%로 오르기도).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 — 점유자가 안 나갈 때, 인도명령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대금을 완납해 소유권을 얻어도, 살고 있는 사람이 스스로 나가지 않으면 직접 들어갈 수 없습니다. 이때 법원의 힘을 빌리는 첫 번째 수단이 인도명령입니다.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인도명령의 전제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 rot="5400000">
            <a:off x="1787652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3664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93392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1993392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 신청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완납 후 6개월 이내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 rot="5400000">
            <a:off x="3168396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64408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64408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374136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74136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심문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제3자 점유 시 의견 청취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 rot="5400000">
            <a:off x="4549140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5152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결정·확정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 없으면 확정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 rot="5400000">
            <a:off x="5929884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3" name="Shape 31"/>
          <p:cNvSpPr/>
          <p:nvPr/>
        </p:nvSpPr>
        <p:spPr>
          <a:xfrm>
            <a:off x="6025896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25896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35624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135624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5624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강제집행 신청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35624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집행관에게 접수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 rot="5400000">
            <a:off x="7310628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40664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636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3" name="Text 41"/>
          <p:cNvSpPr/>
          <p:nvPr/>
        </p:nvSpPr>
        <p:spPr>
          <a:xfrm>
            <a:off x="751636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1636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계고 → 집행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1636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자진 인도 촉구 후 반출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02920" y="3273552"/>
            <a:ext cx="8138160" cy="64008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106424" y="331012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인도명령이 안 통하는 경우  </a:t>
            </a:r>
            <a:pPr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있는 임차인·유치권자처럼 정당한 점유권원이 있으면 기각 → 명도소송으로. (이건 낙찰 前 권리분석에서 이미 걸러야 할 문제)</a:t>
            </a:r>
            <a:endParaRPr lang="en-US" sz="960" dirty="0"/>
          </a:p>
        </p:txBody>
      </p:sp>
      <p:sp>
        <p:nvSpPr>
          <p:cNvPr id="49" name="Text 46"/>
          <p:cNvSpPr/>
          <p:nvPr/>
        </p:nvSpPr>
        <p:spPr>
          <a:xfrm>
            <a:off x="502920" y="4041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 기한을 넘기면 인도명령을 못 쓰고 훨씬 오래 걸리는 명도소송으로 갑니다 — 실무에선 강제집행 전 이사비 협의로 마무리되는 경우도 많습니다.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뉴스·텔레그램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매매·경매 2트랙 32유형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40487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81328"/>
            <a:ext cx="1581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매매 트랙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64792" y="1490472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M-SHRG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5800" y="187452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리스크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1307592" y="18745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 S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 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24231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기간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1307592" y="242316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H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" y="297180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목적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1307592" y="297180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실거주 R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P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352044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1307592" y="352044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레버리지 G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자기자본 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72384" y="1371600"/>
            <a:ext cx="240487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072384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3255264" y="1481328"/>
            <a:ext cx="1581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트랙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34256" y="1490472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A-scnr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55264" y="187452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3877056" y="18745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소액분산 s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대액집중 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55264" y="24231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난이도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3877056" y="242316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안전입찰 c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특수물건 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55264" y="297180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3877056" y="297180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연고지 n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전국추적 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55264" y="352044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3877056" y="352044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실수요 r</a:t>
            </a:r>
            <a:pPr indent="0" marL="0">
              <a:buNone/>
            </a:pPr>
            <a:r>
              <a:rPr lang="en-US" sz="900" dirty="0">
                <a:solidFill>
                  <a:srgbClr val="C9BBA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↔  </a:t>
            </a:r>
            <a:pPr indent="0" marL="0">
              <a:buNone/>
            </a:pPr>
            <a:r>
              <a:rPr lang="en-US" sz="9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단기매각 f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426110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4축 × 2극 × 2트랙(매매·경매) = 총 32유형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60720" y="1371600"/>
            <a:ext cx="2880360" cy="3127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760720" y="1371600"/>
            <a:ext cx="64008" cy="31272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1499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998464" y="1847088"/>
            <a:ext cx="248716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진단 문항·채점 엔진 설계시키기 (축별 점수 합산)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 프로필 — 강점·약점·맹점, 적합 물건, 함정, 체크리스트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 반영 (6·27/9·7/10·15 대책) — 보유수·규제지역별 대출·세금 경고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 → 법원경매 검색조건(JSON)으로 변환 → 모듈 03 크롤러 입력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 진단을 왜? — 검색조건으로 바뀌기 때문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진단은 재미가 아니라 필터입니다. ‘사실(뼈대) + 취향(유형 축)’이 법원경매 검색조건으로 결정적으로 변환됩니다.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72768"/>
            <a:ext cx="23317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572768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682496"/>
            <a:ext cx="200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(2갈래)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19842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 · 뼈대
</a:t>
            </a:r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지역·자금·보유주택수·규제상황·용도
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취향 · 유형 축
</a:t>
            </a:r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자금(s/b)·난이도(c/x)·지역(n/w)·용도(r/f)·경험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 rot="5400000">
            <a:off x="2944368" y="2834640"/>
            <a:ext cx="237744" cy="237744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Text 11"/>
          <p:cNvSpPr/>
          <p:nvPr/>
        </p:nvSpPr>
        <p:spPr>
          <a:xfrm>
            <a:off x="2852928" y="312724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변환 규칙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(결정적)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06440" y="1572768"/>
            <a:ext cx="28346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572768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68249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검색조건 (7차원)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07608" y="201168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연고 → 시군구 / 전국 → 복수 순회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007608" y="233629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가격대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자금 × 대출한도(LTV) × 보수계수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007608" y="26609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물건종류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용도·자금별 아파트/다세대/오피스텔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007608" y="2985516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유찰횟수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안전 1회 / 특수 2회 (규제·단타 +1)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07608" y="331012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권리난이도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안전(소멸만) / 특수(유치권·법지 허용)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07608" y="363474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국민평형 59~84 / 소액이면 소형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007608" y="39593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규제선호</a:t>
            </a:r>
            <a:pPr indent="0" marL="0">
              <a:buNone/>
            </a:pPr>
            <a:r>
              <a:rPr lang="en-US" sz="8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다주택→비규제 / 무주택→규제도 기회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4498848"/>
            <a:ext cx="8138160" cy="3291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704088" y="449884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결과물 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조건을 JSON으로 내보내 → 모듈 03 크롤러 검색 필터에 그대로 투입. 같은 입력이면 항상 같은 조건.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auction_news — 매일 뉴스 브리핑 + 양방향 봇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5206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14984" y="1444752"/>
            <a:ext cx="3602736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1444752"/>
            <a:ext cx="64008" cy="43891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197864" y="144475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평일 06:30 자동 실행 (cron)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685800" y="1828800"/>
            <a:ext cx="0" cy="219456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06654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05557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14984" y="2048256"/>
            <a:ext cx="3602736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14984" y="2048256"/>
            <a:ext cx="64008" cy="43891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197864" y="20482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수집가 3명 병렬 — 정책·금리 / 시장·청약 / 경매·NPL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85800" y="2432304"/>
            <a:ext cx="0" cy="219456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67004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265907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14984" y="2651760"/>
            <a:ext cx="3602736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984" y="2651760"/>
            <a:ext cx="64008" cy="43891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1197864" y="265176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편집·검증가가 통합·사실검증 → 일일 브리핑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685800" y="3035808"/>
            <a:ext cx="0" cy="219456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27355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26257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14984" y="3255264"/>
            <a:ext cx="3602736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14984" y="3255264"/>
            <a:ext cx="64008" cy="43891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197864" y="32552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발송: 파일 · macOS 알림 · 이메일 · 텔레그램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685800" y="3639312"/>
            <a:ext cx="0" cy="219456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877056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" y="38660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14984" y="3858768"/>
            <a:ext cx="3602736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14984" y="3858768"/>
            <a:ext cx="64008" cy="43891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5" name="Text 33"/>
          <p:cNvSpPr/>
          <p:nvPr/>
        </p:nvSpPr>
        <p:spPr>
          <a:xfrm>
            <a:off x="1197864" y="385876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하네스에 지시 → 결과 회신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 · 06:30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120640" y="18745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48656" y="193852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📰 오늘의 부동산·경매 브리핑
</a:t>
            </a:r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정책: 스트레스DSR 3단계 후속 공지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시장: 강남 전세가율 하락 지속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경매·NPL: 수도권 낙찰가율 반등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(출처 링크 · 사실검증 완료)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943600" y="3401568"/>
            <a:ext cx="2514600" cy="457200"/>
          </a:xfrm>
          <a:prstGeom prst="roundRect">
            <a:avLst>
              <a:gd name="adj" fmla="val 24000"/>
            </a:avLst>
          </a:prstGeom>
          <a:solidFill>
            <a:srgbClr val="FDE3D2"/>
          </a:solidFill>
          <a:ln/>
        </p:spPr>
      </p:sp>
      <p:sp>
        <p:nvSpPr>
          <p:cNvPr id="41" name="Text 39"/>
          <p:cNvSpPr/>
          <p:nvPr/>
        </p:nvSpPr>
        <p:spPr>
          <a:xfrm>
            <a:off x="6053328" y="34015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“청약 관련만 다시 정리해줘”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120640" y="3950208"/>
            <a:ext cx="24688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48656" y="39502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뉴스 4건 재정리, 문서 첨부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apt-value — 단지 하나의 가치 구조 분해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350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 (공공데이터포털)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162763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국토부 실거래가 — 매매·전월세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기본정보(15058453) — 세대수·동수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단지 목록(15057332) — 단지명 → kaptCode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502920" y="2578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단지를 이렇게 분해한다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단지 스펙 — 세대수·동수·준공연식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가치 — 어느 동이 비싼가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층별 프리미엄 — 저층 vs 로열층</a:t>
            </a:r>
            <a:endParaRPr lang="en-US" sz="980" dirty="0"/>
          </a:p>
          <a:p>
            <a:pPr marL="88900" indent="-88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평형별 실거래 가격대 (59·84·전용 등)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548640" y="4114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동·층 프리미엄은 ‘평형 효과를 제거한 뒤’ 계산 — 향(방향)은 공공데이터에 없어 다루지 않음.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3" name="Chart 0" descr=""/>
          <p:cNvGraphicFramePr/>
          <p:nvPr/>
        </p:nvGraphicFramePr>
        <p:xfrm>
          <a:off x="5029200" y="1572768"/>
          <a:ext cx="3474720" cy="24871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동별 평당가 — 같은 단지도 동마다 다릅니다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realprice-flow — 한 지역의 시장 흐름 읽기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국토부 실거래가를 여러 해치 모아 시군구 하나의 흐름을 계산합니다.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72768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572768"/>
            <a:ext cx="64008" cy="10972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72821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47088"/>
            <a:ext cx="219456" cy="21945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0116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월별 중앙값 + 3개월 이동중앙값 — 저점 대비 상승률</a:t>
            </a:r>
            <a:endParaRPr lang="en-US" sz="930" dirty="0"/>
          </a:p>
        </p:txBody>
      </p:sp>
      <p:sp>
        <p:nvSpPr>
          <p:cNvPr id="14" name="Shape 11"/>
          <p:cNvSpPr/>
          <p:nvPr/>
        </p:nvSpPr>
        <p:spPr>
          <a:xfrm>
            <a:off x="4709160" y="1572768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709160" y="1572768"/>
            <a:ext cx="64008" cy="10972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6" name="Shape 13"/>
          <p:cNvSpPr/>
          <p:nvPr/>
        </p:nvSpPr>
        <p:spPr>
          <a:xfrm>
            <a:off x="4892040" y="1728216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847088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486400" y="1691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 · 갭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486400" y="20116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매매/전세로 실투자금 계산, 갭 작은 단지 랭킹</a:t>
            </a:r>
            <a:endParaRPr lang="en-US" sz="930" dirty="0"/>
          </a:p>
        </p:txBody>
      </p:sp>
      <p:sp>
        <p:nvSpPr>
          <p:cNvPr id="20" name="Shape 16"/>
          <p:cNvSpPr/>
          <p:nvPr/>
        </p:nvSpPr>
        <p:spPr>
          <a:xfrm>
            <a:off x="502920" y="2871216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02920" y="2871216"/>
            <a:ext cx="64008" cy="10972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18"/>
          <p:cNvSpPr/>
          <p:nvPr/>
        </p:nvSpPr>
        <p:spPr>
          <a:xfrm>
            <a:off x="685800" y="302666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145536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280160" y="29900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동네별 · 평형/연식별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1280160" y="331012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 안에서 어디가·어떤 평형이 더 올랐나</a:t>
            </a:r>
            <a:endParaRPr lang="en-US" sz="930" dirty="0"/>
          </a:p>
        </p:txBody>
      </p:sp>
      <p:sp>
        <p:nvSpPr>
          <p:cNvPr id="26" name="Shape 21"/>
          <p:cNvSpPr/>
          <p:nvPr/>
        </p:nvSpPr>
        <p:spPr>
          <a:xfrm>
            <a:off x="4709160" y="2871216"/>
            <a:ext cx="39319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4709160" y="2871216"/>
            <a:ext cx="64008" cy="10972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Shape 23"/>
          <p:cNvSpPr/>
          <p:nvPr/>
        </p:nvSpPr>
        <p:spPr>
          <a:xfrm>
            <a:off x="4892040" y="302666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145536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486400" y="29900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임대수익률 · 계약해제율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486400" y="331012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월세 기준 수익률, 해제 급증 = 과열 신호</a:t>
            </a:r>
            <a:endParaRPr lang="en-US" sz="930" dirty="0"/>
          </a:p>
        </p:txBody>
      </p:sp>
      <p:sp>
        <p:nvSpPr>
          <p:cNvPr id="32" name="Shape 26"/>
          <p:cNvSpPr/>
          <p:nvPr/>
        </p:nvSpPr>
        <p:spPr>
          <a:xfrm>
            <a:off x="502920" y="4169664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41696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 </a:t>
            </a:r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크림+오렌지 톤 HTML 리포트 — 상승률은 첫/마지막 6개월 평균으로, ‘중앙값 기반·참고용’ 한계 명시. 내 성향(M02)과 결합해 타깃 지역 확정.</a:t>
            </a:r>
            <a:endParaRPr lang="en-US" sz="980" dirty="0"/>
          </a:p>
        </p:txBody>
      </p:sp>
      <p:sp>
        <p:nvSpPr>
          <p:cNvPr id="34" name="Text 2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5" name="Text 2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47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2026-07-09T00:37:09Z</dcterms:created>
  <dcterms:modified xsi:type="dcterms:W3CDTF">2026-07-09T00:37:09Z</dcterms:modified>
</cp:coreProperties>
</file>