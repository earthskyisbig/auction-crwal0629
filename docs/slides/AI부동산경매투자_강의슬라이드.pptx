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ln w="31750" cap="flat">
              <a:solidFill>
                <a:srgbClr val="E261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611F"/>
              </a:solidFill>
              <a:ln w="9525" cap="flat">
                <a:solidFill>
                  <a:srgbClr val="E261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24.1Q</c:v>
                  </c:pt>
                  <c:pt idx="1">
                    <c:v>24.3Q</c:v>
                  </c:pt>
                  <c:pt idx="2">
                    <c:v>25.1Q</c:v>
                  </c:pt>
                  <c:pt idx="3">
                    <c:v>25.3Q</c:v>
                  </c:pt>
                  <c:pt idx="4">
                    <c:v>26.1Q</c:v>
                  </c:pt>
                  <c:pt idx="5">
                    <c:v>26.2Q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1480</c:v>
                </c:pt>
                <c:pt idx="1">
                  <c:v>1445</c:v>
                </c:pt>
                <c:pt idx="2">
                  <c:v>1510</c:v>
                </c:pt>
                <c:pt idx="3">
                  <c:v>1585</c:v>
                </c:pt>
                <c:pt idx="4">
                  <c:v>1660</c:v>
                </c:pt>
                <c:pt idx="5">
                  <c:v>1695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개념·절차·권리분석·낙찰 이후까지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스토리 · 나오는 이유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96312" y="352044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96312" y="35204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 · 물권 · 배당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06824" y="3520440"/>
            <a:ext cx="101498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06824" y="3520440"/>
            <a:ext cx="1014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권리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0" y="352044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0" y="35204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· 규제 · 함정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296912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96912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이후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물건은 왜 시장에 나왔나 — 세 가지 이유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‘경매의 종류’보다 ‘물건이 나오게 된 이유’로 접근하면 훨씬 직관적입니다. 크게 셋으로 나뉩니다.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채권회수형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5272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돈을 못 갚아서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은행·채권자가 담보 잡은 부동산을 팔아 회수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대출금·사채·보증채무·판결채무 미상환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임의경매 · 강제경매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600200"/>
            <a:ext cx="64008" cy="24231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4720" y="17647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88366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4164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조세징수형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04164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세금을 안 내서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49300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국가·지자체가 체납 세금 걷으려 압류·매각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국세·지방세·건강보험료 등 체납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법원경매보다 공매(온비드)에서 많이</a:t>
            </a:r>
            <a:endParaRPr lang="en-US" sz="930" dirty="0"/>
          </a:p>
        </p:txBody>
      </p:sp>
      <p:sp>
        <p:nvSpPr>
          <p:cNvPr id="19" name="Shape 15"/>
          <p:cNvSpPr/>
          <p:nvPr/>
        </p:nvSpPr>
        <p:spPr>
          <a:xfrm>
            <a:off x="608076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6364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8836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3056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관계정리형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83056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소유자끼리 못 나눠서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28192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빚이 아니라 소유관계를 정리하려는 경매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상속·공동투자·이혼 등 지분 분쟁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공유물분할을 위한 형식적 경매</a:t>
            </a:r>
            <a:endParaRPr lang="en-US" sz="930" dirty="0"/>
          </a:p>
        </p:txBody>
      </p:sp>
      <p:sp>
        <p:nvSpPr>
          <p:cNvPr id="26" name="Text 2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여기에 청산·파산 등 ‘법률상 팔아서 정리하는’ 기타정리형까지 더하면 4분류가 됩니다.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0175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5895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권리분석·명도가 수익의 핵심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96519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경쟁 정보가 적어 기회 여지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강의에서는 둘 다 크롤링합니다 — 모듈 03(법원경매) · 04(온비드)에서 하나의 물건 DB로 통합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— 매각기일을 경계로 주인공이 바뀐다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8138160" cy="31089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25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前  </a:t>
            </a:r>
            <a:pPr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채권자와 법원이 절차를 만든다 — 입찰자는 지켜보는 단계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9669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30936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 신청 → 법원 압류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 rot="5400000">
            <a:off x="2414016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3" name="Shape 11"/>
          <p:cNvSpPr/>
          <p:nvPr/>
        </p:nvSpPr>
        <p:spPr>
          <a:xfrm>
            <a:off x="2587752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87752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15768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8152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2715768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기한 지정·공고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 rot="5400000">
            <a:off x="4498848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0" name="Shape 18"/>
          <p:cNvSpPr/>
          <p:nvPr/>
        </p:nvSpPr>
        <p:spPr>
          <a:xfrm>
            <a:off x="4672584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집행관·감정인 조사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 rot="5400000">
            <a:off x="6583680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7" name="Shape 25"/>
          <p:cNvSpPr/>
          <p:nvPr/>
        </p:nvSpPr>
        <p:spPr>
          <a:xfrm>
            <a:off x="6757416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885432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6885432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5119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 · 서류비치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6885432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 서류 공개(준비 시작)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02920" y="2798064"/>
            <a:ext cx="8138160" cy="310896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279806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後  </a:t>
            </a:r>
            <a:pPr indent="0" marL="0">
              <a:buNone/>
            </a:pPr>
            <a:r>
              <a:rPr lang="en-US" sz="1050" dirty="0">
                <a:solidFill>
                  <a:srgbClr val="FDE3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입찰자와 법원이 움직인다 — 여기서부터가 투자자의 시간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0936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6696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개찰(매각기일)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30936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 입찰 → 최고가 결정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 rot="5400000">
            <a:off x="2414016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2" name="Shape 40"/>
          <p:cNvSpPr/>
          <p:nvPr/>
        </p:nvSpPr>
        <p:spPr>
          <a:xfrm>
            <a:off x="2587752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587752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5768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5" name="Text 43"/>
          <p:cNvSpPr/>
          <p:nvPr/>
        </p:nvSpPr>
        <p:spPr>
          <a:xfrm>
            <a:off x="2715768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81528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2715768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대금 완납 → 소유권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 rot="5400000">
            <a:off x="4498848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72584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2" name="Text 50"/>
          <p:cNvSpPr/>
          <p:nvPr/>
        </p:nvSpPr>
        <p:spPr>
          <a:xfrm>
            <a:off x="4800600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66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4800600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순위대로 분배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 rot="5400000">
            <a:off x="6583680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6" name="Shape 54"/>
          <p:cNvSpPr/>
          <p:nvPr/>
        </p:nvSpPr>
        <p:spPr>
          <a:xfrm>
            <a:off x="6757416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57416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8" name="Shape 56"/>
          <p:cNvSpPr/>
          <p:nvPr/>
        </p:nvSpPr>
        <p:spPr>
          <a:xfrm>
            <a:off x="6885432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9" name="Text 57"/>
          <p:cNvSpPr/>
          <p:nvPr/>
        </p:nvSpPr>
        <p:spPr>
          <a:xfrm>
            <a:off x="6885432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251192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980" dirty="0"/>
          </a:p>
        </p:txBody>
      </p:sp>
      <p:sp>
        <p:nvSpPr>
          <p:cNvPr id="61" name="Text 59"/>
          <p:cNvSpPr/>
          <p:nvPr/>
        </p:nvSpPr>
        <p:spPr>
          <a:xfrm>
            <a:off x="6885432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협의·인도명령</a:t>
            </a:r>
            <a:endParaRPr lang="en-US" sz="830" dirty="0"/>
          </a:p>
        </p:txBody>
      </p:sp>
      <p:sp>
        <p:nvSpPr>
          <p:cNvPr id="62" name="Text 60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본격적으로 움직이는 건 매각공고(4단계)로 서류가 공개된 뒤부터입니다 — 그 전엔 사건 상태만 지켜보면 됩니다.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사건 상태 용어 — 취하·취소·기각·각하·변경·연기·정지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절차가 끝나는 경우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신청한 채권자가 스스로 철회 (채무자가 빚을 갚은 경우 등)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58318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8318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1" name="Text 9"/>
          <p:cNvSpPr/>
          <p:nvPr/>
        </p:nvSpPr>
        <p:spPr>
          <a:xfrm>
            <a:off x="272948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948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절차 자체에 하자가 있다고 보아 무효화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466344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974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 서류·자격 요건 미비 — 내용 검토 없이 반려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74370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4370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689000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9000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서류는 갖췄으나 내용을 검토한 결과 이유 없음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02920" y="2852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절차는 계속되지만 잠깐 바뀌는 경우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매각기일·매각조건 등이 조정됨 (절차는 유지)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19272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19272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83864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83864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매각기일이 뒤로 미뤄짐 (일정만 지연)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35624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35624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6300216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0216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이의신청 등으로 절차를 잠시 멈춤 (재개 가능)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793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 vs 기각 — 각하는 서류·자격부터 틀려 읽어보지도 않고 반려, 기각은 내용을 다 본 뒤 이유 없다고 거절.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069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b="1" i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 </a:t>
            </a:r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‘돈을 빌려주며 담보로 설정한 권리’가 곧 말소기준권리 후보 — 이 중 등기부상 가장 빠른 것이 기준점입니다.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임차인 권리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· 우선변제권 · 최우선변제권 — 요건과 효력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(다음 날 0시부터)</a:t>
            </a:r>
            <a:endParaRPr lang="en-US" sz="860" dirty="0"/>
          </a:p>
        </p:txBody>
      </p:sp>
      <p:sp>
        <p:nvSpPr>
          <p:cNvPr id="10" name="Text 7"/>
          <p:cNvSpPr/>
          <p:nvPr/>
        </p:nvSpPr>
        <p:spPr>
          <a:xfrm>
            <a:off x="72237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낙찰자에게 임대차를 주장할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선순위면 못 받은 보증금을 낙찰자가 인수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배당요구와 무관하게 유지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4164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47472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대항요건 + 확정일자</a:t>
            </a:r>
            <a:endParaRPr lang="en-US" sz="860" dirty="0"/>
          </a:p>
        </p:txBody>
      </p:sp>
      <p:sp>
        <p:nvSpPr>
          <p:cNvPr id="17" name="Text 13"/>
          <p:cNvSpPr/>
          <p:nvPr/>
        </p:nvSpPr>
        <p:spPr>
          <a:xfrm>
            <a:off x="351129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배당에서 후순위보다 먼저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순위는 대항요건일·확정일자 중 늦은 날 기준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배당요구종기까지 배당요구 필요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626364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65506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3056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최우선변제권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26364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+ 대항요건 + 배당요구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630021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순위와 무관하게 일정액 최우선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불필요 — 별개의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기준 이내여야 성립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502920" y="3931920"/>
            <a:ext cx="8138160" cy="62179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704088" y="393192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전입신고와 근저당이 같은 날이면 — 대항력은 다음 날 0시, 근저당은 당일 즉시 효력 → 근저당이 이겨 임차인은 후순위가 됩니다.</a:t>
            </a:r>
            <a:endParaRPr lang="en-US" sz="103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 심화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 · 토지이용계획원 — 등기부가 안 알려주는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등기부는 ‘권리관계’를 보여줍니다. 하지만 건물·토지의 ‘사실관계와 규제’는 다른 서류에 있습니다.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72768"/>
            <a:ext cx="64008" cy="25146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" y="175564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88640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6245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6245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건물의 사실관계(현황)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5895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면적·구조·용도·층별현황·사용승인일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표제부에 건폐율·용적률도 기재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위반건축물 표시 + 이행강제금 이력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집합건물은 전유부까지 확인 (호실 정보)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572768"/>
            <a:ext cx="64008" cy="25146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4910328" y="175564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886407"/>
            <a:ext cx="241402" cy="24140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6869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토지이용계획원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56869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토지에 걸린 규제·계획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96519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용도지역·지구단위계획 등 규제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가능 규모(건폐율·용적률 상한)의 근거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도로·공원 등 도시계획시설 저촉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토지이음(eum.go.kr)에서 열람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2920" y="4224528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Text 16"/>
          <p:cNvSpPr/>
          <p:nvPr/>
        </p:nvSpPr>
        <p:spPr>
          <a:xfrm>
            <a:off x="704088" y="42245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vs 건축물대장이 다르면?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면적·용도는 건축물대장(사실관계)이 우선 — 등기부만 믿으면 실제 현황을 놓칩니다.</a:t>
            </a:r>
            <a:endParaRPr lang="en-US" sz="1030" dirty="0"/>
          </a:p>
        </p:txBody>
      </p:sp>
      <p:sp>
        <p:nvSpPr>
          <p:cNvPr id="21" name="Text 1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 심화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 · 건폐율 · 용적률 — 땅의 가치를 정하는 3요소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9144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63624"/>
            <a:ext cx="384048" cy="38404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076" y="1663476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24712" y="18379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땅에 무엇을, 얼마나 지을 수 있는지 정하는 도시계획상 분류 (주거·상업·공업·녹지).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502920" y="2441448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441448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649224" y="2587752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76" y="2687604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24712" y="2560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124712" y="28620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건축면적(바닥) 비율 — 땅을 얼마나 넓게 덮는가.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502920" y="3465576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2920" y="3465576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649224" y="3611880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76" y="3711732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24712" y="3584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1124712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지상층 연면적 비율 — 얼마나 높이(층수) 올릴 수 있는가.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5029200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용도지역 상한 (법정 최대 · 조례로 강화)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19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880" dirty="0"/>
          </a:p>
        </p:txBody>
      </p:sp>
      <p:sp>
        <p:nvSpPr>
          <p:cNvPr id="27" name="Shape 22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3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880" dirty="0"/>
          </a:p>
        </p:txBody>
      </p:sp>
      <p:sp>
        <p:nvSpPr>
          <p:cNvPr id="29" name="Shape 24"/>
          <p:cNvSpPr/>
          <p:nvPr/>
        </p:nvSpPr>
        <p:spPr>
          <a:xfrm>
            <a:off x="5029200" y="2066544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74920" y="206654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제1종전용주거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858000" y="2066544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903720" y="206654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7754112" y="2066544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799832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50~100%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5029200" y="2468880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5074920" y="24688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제2종일반주거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858000" y="2468880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903720" y="2468880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60%↓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7754112" y="2468880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7799832" y="24688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100~250%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029200" y="2871216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074920" y="287121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제3종일반주거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6858000" y="2871216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6903720" y="2871216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7754112" y="2871216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799832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100~300%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5029200" y="3273552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5074920" y="327355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준주거지역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6858000" y="3273552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6903720" y="327355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70%↓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7754112" y="3273552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799832" y="32735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200~500%</a:t>
            </a:r>
            <a:endParaRPr lang="en-US" sz="850" dirty="0"/>
          </a:p>
        </p:txBody>
      </p:sp>
      <p:sp>
        <p:nvSpPr>
          <p:cNvPr id="53" name="Shape 48"/>
          <p:cNvSpPr/>
          <p:nvPr/>
        </p:nvSpPr>
        <p:spPr>
          <a:xfrm>
            <a:off x="5029200" y="3675888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5074920" y="36758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일반상업지역</a:t>
            </a:r>
            <a:endParaRPr lang="en-US" sz="850" dirty="0"/>
          </a:p>
        </p:txBody>
      </p:sp>
      <p:sp>
        <p:nvSpPr>
          <p:cNvPr id="55" name="Shape 50"/>
          <p:cNvSpPr/>
          <p:nvPr/>
        </p:nvSpPr>
        <p:spPr>
          <a:xfrm>
            <a:off x="6858000" y="3675888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903720" y="3675888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80%↓</a:t>
            </a:r>
            <a:endParaRPr lang="en-US" sz="850" dirty="0"/>
          </a:p>
        </p:txBody>
      </p:sp>
      <p:sp>
        <p:nvSpPr>
          <p:cNvPr id="57" name="Shape 52"/>
          <p:cNvSpPr/>
          <p:nvPr/>
        </p:nvSpPr>
        <p:spPr>
          <a:xfrm>
            <a:off x="7754112" y="3675888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7799832" y="36758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~1,300%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5029200" y="41513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정확한 수치는 지자체 조례로 더 강화될 수 있어 토지이음에서 개별 확인 필수.</a:t>
            </a:r>
            <a:endParaRPr lang="en-US" sz="800" dirty="0"/>
          </a:p>
        </p:txBody>
      </p:sp>
      <p:sp>
        <p:nvSpPr>
          <p:cNvPr id="60" name="Text 55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재개발·재건축·꼬마빌딩 신축의 사업성은 결국 용적률에서 갈립니다 — ‘몇 층까지 올릴 수 있나’가 수익의 핵심.</a:t>
            </a:r>
            <a:endParaRPr lang="en-US" sz="1000" dirty="0"/>
          </a:p>
        </p:txBody>
      </p:sp>
      <p:sp>
        <p:nvSpPr>
          <p:cNvPr id="61" name="Text 5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2" name="Text 5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vs 재건축 — 뭐가 다른가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지역 전체를 다시 짓는다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도로·상하수도 등 기반시설까지 낙후된 지역(주택+상가 혼재)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토지 또는 건축물 중 하나만 소유해도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불필요 — 노후도 기준으로 구역 지정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세입자 보호: 주거이전비·영업보상 등 공익사업 성격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낡은 아파트 자체를 다시 짓는다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기반시설은 양호, 노후 공동주택(아파트) 자체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원칙적으로 토지 + 건물 모두 소유해야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통과가 사업의 첫 관문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재건축초과이익환수제 적용 (재개발엔 없음)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둘 다 도시정비법 적용, 조합 설립 → 관리처분계획 인가를 거쳐 새 아파트를 짓는 정비사업입니다.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 · 모아타운 · 공공재개발 · 지주택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2" y="16495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</a:t>
            </a:r>
            <a:endParaRPr lang="en-US" sz="1030" dirty="0"/>
          </a:p>
        </p:txBody>
      </p:sp>
      <p:sp>
        <p:nvSpPr>
          <p:cNvPr id="9" name="Text 6"/>
          <p:cNvSpPr/>
          <p:nvPr/>
        </p:nvSpPr>
        <p:spPr>
          <a:xfrm>
            <a:off x="63093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서울시가 정비계획 단계에 가이드라인 제시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재개발·재건축 절차는 유지, 심의기간만 단축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조합장 1명 체계 — 컨트롤 용이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58318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8318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2" name="Shape 9"/>
          <p:cNvSpPr/>
          <p:nvPr/>
        </p:nvSpPr>
        <p:spPr>
          <a:xfrm>
            <a:off x="272948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582" y="164957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1119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모아타운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271119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대규모 재개발이 어려운 10만㎡ 이내 저층주거지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다가구·다세대 필지를 블록 단위로 묶어 공동개발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모아주택마다 개별 조합장 존재</a:t>
            </a:r>
            <a:endParaRPr lang="en-US" sz="76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6344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480974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2" y="164957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9145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공공재개발</a:t>
            </a:r>
            <a:endParaRPr lang="en-US" sz="1030" dirty="0"/>
          </a:p>
        </p:txBody>
      </p:sp>
      <p:sp>
        <p:nvSpPr>
          <p:cNvPr id="21" name="Text 16"/>
          <p:cNvSpPr/>
          <p:nvPr/>
        </p:nvSpPr>
        <p:spPr>
          <a:xfrm>
            <a:off x="479145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10년 넘게 정체된 사업지에 LH·SH 등 공공 참여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 인센티브 대신 공공기여(임대주택 등) 확대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2021년 이후 신규 지정 사실상 중단</a:t>
            </a:r>
            <a:endParaRPr lang="en-US" sz="760" dirty="0"/>
          </a:p>
        </p:txBody>
      </p:sp>
      <p:sp>
        <p:nvSpPr>
          <p:cNvPr id="22" name="Shape 17"/>
          <p:cNvSpPr/>
          <p:nvPr/>
        </p:nvSpPr>
        <p:spPr>
          <a:xfrm>
            <a:off x="674370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4370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19"/>
          <p:cNvSpPr/>
          <p:nvPr/>
        </p:nvSpPr>
        <p:spPr>
          <a:xfrm>
            <a:off x="689000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102" y="164957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7171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지역주택조합(지주택)</a:t>
            </a:r>
            <a:endParaRPr lang="en-US" sz="1030" dirty="0"/>
          </a:p>
        </p:txBody>
      </p:sp>
      <p:sp>
        <p:nvSpPr>
          <p:cNvPr id="27" name="Text 21"/>
          <p:cNvSpPr/>
          <p:nvPr/>
        </p:nvSpPr>
        <p:spPr>
          <a:xfrm>
            <a:off x="687171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무주택자·소형주택 소유자가 스스로 모여 조합 결성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도시정비법이 아닌 주택법 적용 — 안전진단 없음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미확보 상태로 시작 — 지연·무산 리스크 큼</a:t>
            </a:r>
            <a:endParaRPr lang="en-US" sz="760" dirty="0"/>
          </a:p>
        </p:txBody>
      </p:sp>
      <p:sp>
        <p:nvSpPr>
          <p:cNvPr id="28" name="Shape 22"/>
          <p:cNvSpPr/>
          <p:nvPr/>
        </p:nvSpPr>
        <p:spPr>
          <a:xfrm>
            <a:off x="502920" y="3913632"/>
            <a:ext cx="8138160" cy="8412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Text 23"/>
          <p:cNvSpPr/>
          <p:nvPr/>
        </p:nvSpPr>
        <p:spPr>
          <a:xfrm>
            <a:off x="704088" y="391363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공통점과 차이  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넷 다 “새 아파트를 짓기 위한 방식”입니다. 다만 앞의 셋(신속통합기획·모아타운·공공재개발)은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 체계 안의 변주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이고, 지주택만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적용 + 토지 미확보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라는 전혀 다른 위험구조를 갖습니다.</a:t>
            </a:r>
            <a:endParaRPr lang="en-US" sz="1030" dirty="0"/>
          </a:p>
        </p:txBody>
      </p:sp>
      <p:sp>
        <p:nvSpPr>
          <p:cNvPr id="30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 vs 분양권 — 둘 다 ‘아직 없는 새 집’에 대한 권리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 조합원이 받는 권리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부동산을 조합에 제공하고 새 아파트를 받을 권리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관리처분계획 인가 후 발생 (기존 건물은 철거·멸실)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지위를 그대로 승계하는 형태로 거래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취득세: 기존 부동산분 + 추가 청산금(분담금) 반영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분양권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등 일반분양으로 받는 권리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짓지 않은 새 집에 대한 계약상 지위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계약금 → 중도금 → 잔금 순서로 대금 납부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후 잔금 납부 시점에 취득세 발생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지역·평형별 전매제한 규정 적용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전까지는 등기가 아니라 ‘권리’로 거래됩니다. 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2021-01-01 이후 취득한 분양권은 다른 주택 양도세 계산 시 주택수에 포함됩니다.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다중·다가구·다세대·연립·도생·생숙 — 6종 구분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35024"/>
            <a:ext cx="14173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557784" y="1335024"/>
            <a:ext cx="1307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20240" y="1335024"/>
            <a:ext cx="169164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1975104" y="1335024"/>
            <a:ext cx="1581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근거법 · 분류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11880" y="1335024"/>
            <a:ext cx="173736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3666744" y="1335024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규모 기준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49240" y="1335024"/>
            <a:ext cx="9601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404104" y="1335024"/>
            <a:ext cx="85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구분등기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(개별매매)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309360" y="1335024"/>
            <a:ext cx="23317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364224" y="1335024"/>
            <a:ext cx="2221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포인트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1810512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181051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다중주택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1920240" y="1810512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93392" y="181051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3611880" y="1810512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85032" y="181051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5349240" y="1810512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22392" y="181051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6309360" y="1810512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181051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취사시설 원칙 없음(고시원 유사)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502920" y="2231136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2231136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다가구주택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1920240" y="2231136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2231136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611880" y="2231136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85032" y="2231136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 · 19세대↓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5349240" y="2231136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22392" y="2231136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6309360" y="2231136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23113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전체 낙찰 → 세대별 권리분석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502920" y="2651760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65176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다세대주택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1920240" y="2651760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2651760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3611880" y="2651760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85032" y="265176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660㎡↓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349240" y="2651760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22392" y="2651760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6309360" y="2651760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265176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호실 단위 낙찰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502920" y="3072384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" y="307238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연립주택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1920240" y="3072384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93392" y="307238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3611880" y="3072384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85032" y="3072384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660㎡초과</a:t>
            </a:r>
            <a:endParaRPr lang="en-US" sz="830" dirty="0"/>
          </a:p>
        </p:txBody>
      </p:sp>
      <p:sp>
        <p:nvSpPr>
          <p:cNvPr id="50" name="Shape 48"/>
          <p:cNvSpPr/>
          <p:nvPr/>
        </p:nvSpPr>
        <p:spPr>
          <a:xfrm>
            <a:off x="5349240" y="3072384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22392" y="3072384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6309360" y="3072384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2512" y="3072384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다세대보다 큰 ‘빌라’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502920" y="3493008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" y="349300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도시형생활주택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1920240" y="3493008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93392" y="3493008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· 공동주택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3611880" y="3493008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85032" y="349300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국민주택규모↓ 소형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5349240" y="3493008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22392" y="3493008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62" name="Shape 60"/>
          <p:cNvSpPr/>
          <p:nvPr/>
        </p:nvSpPr>
        <p:spPr>
          <a:xfrm>
            <a:off x="6309360" y="3493008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82512" y="3493008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주차기준 완화 → 주차난 확인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502920" y="3913632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76072" y="391363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생활숙박시설</a:t>
            </a:r>
            <a:endParaRPr lang="en-US" sz="930" dirty="0"/>
          </a:p>
        </p:txBody>
      </p:sp>
      <p:sp>
        <p:nvSpPr>
          <p:cNvPr id="66" name="Shape 64"/>
          <p:cNvSpPr/>
          <p:nvPr/>
        </p:nvSpPr>
        <p:spPr>
          <a:xfrm>
            <a:off x="1920240" y="3913632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993392" y="391363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숙박시설</a:t>
            </a:r>
            <a:endParaRPr lang="en-US" sz="830" dirty="0"/>
          </a:p>
        </p:txBody>
      </p:sp>
      <p:sp>
        <p:nvSpPr>
          <p:cNvPr id="68" name="Shape 66"/>
          <p:cNvSpPr/>
          <p:nvPr/>
        </p:nvSpPr>
        <p:spPr>
          <a:xfrm>
            <a:off x="3611880" y="3913632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685032" y="391363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(주택 아님)</a:t>
            </a:r>
            <a:endParaRPr lang="en-US" sz="830" dirty="0"/>
          </a:p>
        </p:txBody>
      </p:sp>
      <p:sp>
        <p:nvSpPr>
          <p:cNvPr id="70" name="Shape 68"/>
          <p:cNvSpPr/>
          <p:nvPr/>
        </p:nvSpPr>
        <p:spPr>
          <a:xfrm>
            <a:off x="5349240" y="3913632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22392" y="391363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6309360" y="3913632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82512" y="391363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주거·전입 제약, 대출 기준 상이</a:t>
            </a:r>
            <a:endParaRPr lang="en-US" sz="830" dirty="0"/>
          </a:p>
        </p:txBody>
      </p:sp>
      <p:sp>
        <p:nvSpPr>
          <p:cNvPr id="74" name="Text 72"/>
          <p:cNvSpPr/>
          <p:nvPr/>
        </p:nvSpPr>
        <p:spPr>
          <a:xfrm>
            <a:off x="502920" y="442569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차이 — 다가구(단독주택)는 구분등기 불가라 건물 전체가 통째로 경매되고, 다세대·연립·도생·생숙은 호실별 개별 매매·낙찰이 됩니다.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 · 공급면적 · 계약면적 — 어디까지 포함하나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61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계약면적  </a:t>
            </a:r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공급면적 + 기타공용면적 (지하주차장 · 관리사무소 등 부대복리시설)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72237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116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공급면적(분양면적)  </a:t>
            </a:r>
            <a:pPr indent="0" marL="0"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전용면적 + 주거공용면적 (계단 · 복도 · 엘리베이터) — 평당가 계산 기준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309360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2423160"/>
            <a:ext cx="5943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951226"/>
            <a:ext cx="5943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거주 공간 (현관 안쪽) — 등기부에 기재되는 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발코니(서비스면적)는 전용면적에 포함되지 않습니다 — 확장하면 실사용 면적은 늘지만 등기상 면적(전용면적)은 그대로입니다.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잔금 계획 — 경락잔금대출과 대금미납 리스크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경락잔금대출 — 낙찰 대금을 마련하는 대표 방법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532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4984" y="1645920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4984" y="1645920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179576" y="1645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前 대출 가능액 미리 가늠 (여러 기관 문의)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20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14984" y="2212848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212848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1179576" y="22128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매각허가결정 확정 후 신청·심사 진행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02920" y="279806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8709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4984" y="2779776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4984" y="2779776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1179576" y="277977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은행·저축은행 금리·한도·수수료 비교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3364992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35401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4984" y="3346704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4984" y="3346704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1179576" y="33467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대금납부기한 안에 실행 완료되는지 확인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50292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LTV·DSR 규제·규제지역·다주택 여부에 따라 한도가 달라집니다 — 정확한 수치는 상담 시점 확인.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대금미납은 왜 생기나 — 원인별 정리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166420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0" y="166420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5193792" y="16642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 부족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309360" y="16642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규제·위반건축물 등으로 예상보다 한도 미달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0" y="221284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0" y="221284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5193792" y="22128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오류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309360" y="2212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 인수금을 놓치고 고가 낙찰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029200" y="276148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0" y="276148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Text 35"/>
          <p:cNvSpPr/>
          <p:nvPr/>
        </p:nvSpPr>
        <p:spPr>
          <a:xfrm>
            <a:off x="5193792" y="2761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 발견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309360" y="27614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임장에서 누수·유치권 등 새 하자 확인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5029200" y="331012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31012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1" name="Text 39"/>
          <p:cNvSpPr/>
          <p:nvPr/>
        </p:nvSpPr>
        <p:spPr>
          <a:xfrm>
            <a:off x="5193792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사정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6309360" y="3310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실직·건강 등 물건과 무관한 자금 차질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5029200" y="3913632"/>
            <a:ext cx="3611880" cy="58521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4" name="Text 42"/>
          <p:cNvSpPr/>
          <p:nvPr/>
        </p:nvSpPr>
        <p:spPr>
          <a:xfrm>
            <a:off x="5193792" y="391363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미납의 대가  </a:t>
            </a:r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입찰보증금 몰수 + 재매각 (재매각은 보증금이 20~30%로 오르기도).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 — 점유자가 안 나갈 때, 인도명령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대금을 완납해 소유권을 얻어도, 살고 있는 사람이 스스로 나가지 않으면 직접 들어갈 수 없습니다. 이때 법원의 힘을 빌리는 첫 번째 수단이 인도명령입니다.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264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인도명령의 전제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 rot="5400000">
            <a:off x="1787652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3664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83664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93392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1993392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 신청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93392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완납 후 6개월 이내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 rot="5400000">
            <a:off x="3168396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64408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64408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374136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3374136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74136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심문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제3자 점유 시 의견 청취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 rot="5400000">
            <a:off x="4549140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5152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결정·확정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 없으면 확정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 rot="5400000">
            <a:off x="5929884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3" name="Shape 31"/>
          <p:cNvSpPr/>
          <p:nvPr/>
        </p:nvSpPr>
        <p:spPr>
          <a:xfrm>
            <a:off x="6025896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25896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Shape 33"/>
          <p:cNvSpPr/>
          <p:nvPr/>
        </p:nvSpPr>
        <p:spPr>
          <a:xfrm>
            <a:off x="6135624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135624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35624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강제집행 신청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35624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집행관에게 접수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 rot="5400000">
            <a:off x="7310628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0" name="Shape 38"/>
          <p:cNvSpPr/>
          <p:nvPr/>
        </p:nvSpPr>
        <p:spPr>
          <a:xfrm>
            <a:off x="740664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636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3" name="Text 41"/>
          <p:cNvSpPr/>
          <p:nvPr/>
        </p:nvSpPr>
        <p:spPr>
          <a:xfrm>
            <a:off x="751636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51636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계고 → 집행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1636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자진 인도 촉구 후 반출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502920" y="3273552"/>
            <a:ext cx="8138160" cy="64008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292608" cy="292608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106424" y="331012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인도명령이 안 통하는 경우  </a:t>
            </a:r>
            <a:pPr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있는 임차인·유치권자처럼 정당한 점유권원이 있으면 기각 → 명도소송으로. (이건 낙찰 前 권리분석에서 이미 걸러야 할 문제)</a:t>
            </a:r>
            <a:endParaRPr lang="en-US" sz="960" dirty="0"/>
          </a:p>
        </p:txBody>
      </p:sp>
      <p:sp>
        <p:nvSpPr>
          <p:cNvPr id="49" name="Text 46"/>
          <p:cNvSpPr/>
          <p:nvPr/>
        </p:nvSpPr>
        <p:spPr>
          <a:xfrm>
            <a:off x="502920" y="40416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 기한을 넘기면 인도명령을 못 쓰고 훨씬 오래 걸리는 명도소송으로 갑니다 — 실무에선 강제집행 전 이사비 협의로 마무리되는 경우도 많습니다.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나에게 맞는 전략부터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6696" y="1481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1682496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081528" y="1481328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3081528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75304" y="148132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139696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213969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시세차익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94560" y="2340864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081528" y="213969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3081528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75304" y="21396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현금흐름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6696" y="2798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손품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94560" y="2999232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081528" y="2798064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3081528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75304" y="27980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자동화 위임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456432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6696" y="345643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회전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194560" y="3657600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81528" y="3456432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75304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보유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축 × 2 = 16가지 투자 유형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0" y="1417320"/>
            <a:ext cx="36118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029200" y="141732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5230368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85232" y="19659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12문항 성향 설문 설계시키기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응답 → 16유형 자동 판정 로직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유형별 추천 전략 매핑 (예: 안정+현금흐름 → 소형 아파트 월세 세팅)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유형이 이후 모든 실습의 필터가 됩니다 — 검색 조건, 대시보드 지표, 입찰 기준까지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API로 아파트 단지 분해하기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국토교통부 실거래가 공개시스템 API — 매매 + 전월세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 — 세대수 · 동수 · 준공연도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계산하는 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 — 저점 대비 얼마나 올랐나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· 층별 · 평형별 가격 차이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전세가율과 갭 — 실투자금 계산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vs 실거래 시세 교차 검증 (M03 연계)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5029200" y="1572768"/>
          <a:ext cx="34747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84㎡ 평당가 추이 — 실습에서 직접 뽑아봅니다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— 어디를 볼지 데이터로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 물량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8016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 예정 물량이 몰리는 시점 = 전세가 하락 · 가격 조정 가능성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70916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3716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489204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미분양 추이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증가세면 경고, 감소 전환이면 바닥 신호로 해석되는 대표 지표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2770632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54096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 · 세대 이동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28016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전입이 꾸준한 지역인가 — 수요의 방향을 보여주는 근본 지표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470916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09160" y="2770632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4892040" y="293522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54096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· 매물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48640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급증 + 매물 감소 조합은 시장 전환의 조기 신호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920" y="4041648"/>
            <a:ext cx="8138160" cy="51206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산출물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지역 3곳 비교 대시보드 → 내 성향(M02)과 결합해 타깃 지역 확정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42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2026-07-08T23:19:27Z</dcterms:created>
  <dcterms:modified xsi:type="dcterms:W3CDTF">2026-07-08T23:19:27Z</dcterms:modified>
</cp:coreProperties>
</file>