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101동</c:v>
                  </c:pt>
                  <c:pt idx="1">
                    <c:v>102동</c:v>
                  </c:pt>
                  <c:pt idx="2">
                    <c:v>103동</c:v>
                  </c:pt>
                  <c:pt idx="3">
                    <c:v>104동</c:v>
                  </c:pt>
                  <c:pt idx="4">
                    <c:v>105동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1620</c:v>
                </c:pt>
                <c:pt idx="1">
                  <c:v>1585</c:v>
                </c:pt>
                <c:pt idx="2">
                  <c:v>1710</c:v>
                </c:pt>
                <c:pt idx="3">
                  <c:v>1540</c:v>
                </c:pt>
                <c:pt idx="4">
                  <c:v>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44752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44752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03704" y="3520440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03704" y="3520440"/>
            <a:ext cx="804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72968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72968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규제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5770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770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 용어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0759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O — 6개월 내 신청, 빠름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1383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1383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X — 명도소송 필요, 느림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1148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공매에서 꼭 볼 것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인도명령이 없어 점유자가 안 나가면 명도소송으로만 해결 — 시간·비용 부담 큼   ②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재산명세서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 체납 세금·압류 등 권리정보가 정리돼 있으니 반드시 확인.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 vs 임차권 — 물권이냐 채권이냐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민법상 물권 (등기로 성립)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내고 사용·수익 + 등기 → 누구에게나 대항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우선변제권: 등기 자체로 확보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미반환 시 스스로 경매신청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 가도 등기가 남아 권리 유지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임대차계약상 채권 (+주임법)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원래는 계약 당사자끼리만 — 집 팔리면 대항 불가가 원칙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→ 대항력 / +확정일자 → 우선변제권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경매신청권 없음 → 집행권원 먼저 확보해야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이사(전출)하면 대항력 끊길 위험 → 임차권등기로 보존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채권의 물권화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임차권은 원래 채권이지만, 주임법이 ‘인도+전입신고’만으로 물권 비슷한 대항력을 줍니다.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전세권·가등기 — 소멸? 인수? 구분하는 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179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전세권이 소멸(말소기준)하려면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188366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선순위 — 저당권·가압류보다 먼저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건물(목적물) 전체에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배당요구 또는 스스로 경매신청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3611880" cy="1024128"/>
          </a:xfrm>
          <a:prstGeom prst="rect">
            <a:avLst/>
          </a:prstGeom>
          <a:solidFill>
            <a:srgbClr val="FDEFE5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999232"/>
            <a:ext cx="3337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다 갖추면 소멸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, 하나라도 빠지면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인수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 특히 배당요구·경매신청을 안 한 선순위 전세권은 그대로 인수 위험으로 남습니다.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5230368" y="15179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가등기, 다 같은 가등기가 아니다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30368" y="1865376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담보가등기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 빌려주며 담보로 설정 → 저당권처럼 배당받고 소멸 (안전)
</a:t>
            </a:r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순위보전 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소유권이전청구권 보전 → 경매로 안 지워질 수 있음. 낙찰 후 본등기 시 소유권이 밀려날 위험 (위험)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230368" y="3200400"/>
            <a:ext cx="3246120" cy="749808"/>
          </a:xfrm>
          <a:prstGeom prst="rect">
            <a:avLst/>
          </a:prstGeom>
          <a:solidFill>
            <a:srgbClr val="F3ECE0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3255264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구분법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 비고란 확인 → 가등기권자가 채권신고에 응답 안 하면 순위보전(인수) 의심.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‘전세권·가등기’가 선순위로 보이면 무조건 위험한 게 아니라 — 요건·성격을 따져 소멸/인수를 판정합니다.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 — 근린생활시설을 주거로 쓰는 물건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근생주택이란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139696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건축물대장상 용도가 ‘제1·2종 근린생활시설’인데 실제로는 주거로 쓰는 건물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상가주택 위층, 사무실 개조 원룸 등에서 흔함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겉보기엔 빌라·오피스텔과 구분이 안 됨 — 대장 용도로만 확인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‘주택’이 아니므로 세법·대출·청약에서 주택과 다르게 취급될 수 있음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57276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42432" y="15910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경매로 받을 때 조심할 것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285232" y="2139696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불법 용도변경(주거)이면 위반건축물 → 이행강제금 승계 위험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주택담보대출이 아닌 상가 기준 → 대출한도 축소·거절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전입신고·대항력 인정 여부가 불확실 → 임차인 권리분석 복잡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 수 산정·양도세·청약 자격에서 예상과 다르게 처리될 수 있음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건축물대장 ‘용도’를 확인하세요 — 싸 보이는 이유가 근생일 때가 많습니다.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매매·경매 2트랙 32유형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 트랙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64792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M-SHRG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리스크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1307592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 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기간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1307592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H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목적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307592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실거주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1307592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레버리지 G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자기자본 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72384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072384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3255264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트랙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34256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A-scnr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55264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877056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소액분산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대액집중 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55264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난이도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877056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안전입찰 c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특수물건 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55264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3877056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연고지 n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전국추적 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55264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3877056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실수요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단기매각 f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426110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4축 × 2극 × 2트랙(매매·경매) = 총 32유형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60720" y="1371600"/>
            <a:ext cx="2880360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60720" y="1371600"/>
            <a:ext cx="64008" cy="31272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1499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98464" y="1847088"/>
            <a:ext cx="24871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진단 문항·채점 엔진 설계시키기 (축별 점수 합산)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 프로필 — 강점·약점·맹점, 적합 물건, 함정, 체크리스트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 반영 (6·27/9·7/10·15 대책) — 보유수·규제지역별 대출·세금 경고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→ 법원경매 검색조건(JSON)으로 변환 → 모듈 03 크롤러 입력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 진단을 왜? — 검색조건으로 바뀌기 때문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진단은 재미가 아니라 필터입니다. ‘사실(뼈대) + 취향(유형 축)’이 법원경매 검색조건으로 결정적으로 변환됩니다.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72768"/>
            <a:ext cx="23317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572768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682496"/>
            <a:ext cx="200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(2갈래)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198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· 뼈대
</a:t>
            </a:r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지역·자금·보유주택수·규제상황·용도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취향 · 유형 축
</a:t>
            </a:r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자금(s/b)·난이도(c/x)·지역(n/w)·용도(r/f)·경험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 rot="5400000">
            <a:off x="2944368" y="2834640"/>
            <a:ext cx="237744" cy="237744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Text 11"/>
          <p:cNvSpPr/>
          <p:nvPr/>
        </p:nvSpPr>
        <p:spPr>
          <a:xfrm>
            <a:off x="2852928" y="312724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변환 규칙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(결정적)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06440" y="1572768"/>
            <a:ext cx="28346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572768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68249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검색조건 (7차원)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07608" y="201168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연고 → 시군구 / 전국 → 복수 순회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007608" y="233629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가격대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자금 × 대출한도(LTV) × 보수계수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07608" y="26609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물건종류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용도·자금별 아파트/다세대/오피스텔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07608" y="2985516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유찰횟수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안전 1회 / 특수 2회 (규제·단타 +1)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07608" y="331012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권리난이도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안전(소멸만) / 특수(유치권·법지 허용)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07608" y="363474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국민평형 59~84 / 소액이면 소형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007608" y="39593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규제선호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다주택→비규제 / 무주택→규제도 기회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4498848"/>
            <a:ext cx="8138160" cy="3291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" y="44988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결과물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조건을 JSON으로 내보내 → 모듈 03 크롤러 검색 필터에 그대로 투입. 같은 입력이면 항상 같은 조건.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apt-value — 단지 하나의 가치 구조 분해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35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 (공공데이터포털)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국토부 실거래가 — 매매·전월세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기본정보(15058453) — 세대수·동수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 목록(15057332) — 단지명 → kaptCode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502920" y="2578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단지를 이렇게 분해한다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 스펙 — 세대수·동수·준공연식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가치 — 어느 동이 비싼가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층별 프리미엄 — 저층 vs 로열층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평형별 실거래 가격대 (59·84·전용 등)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54864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동·층 프리미엄은 ‘평형 효과를 제거한 뒤’ 계산 — 향(방향)은 공공데이터에 없어 다루지 않음.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3" name="Chart 0" descr=""/>
          <p:cNvGraphicFramePr/>
          <p:nvPr/>
        </p:nvGraphicFramePr>
        <p:xfrm>
          <a:off x="5029200" y="1572768"/>
          <a:ext cx="3474720" cy="2487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동별 평당가 — 같은 단지도 동마다 다릅니다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realprice-flow — 한 지역의 시장 흐름 읽기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국토부 실거래가를 여러 해치 모아 시군구 하나의 흐름을 계산합니다.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72768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572768"/>
            <a:ext cx="64008" cy="10972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47088"/>
            <a:ext cx="219456" cy="2194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0116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월별 중앙값 + 3개월 이동중앙값 — 저점 대비 상승률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4709160" y="1572768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709160" y="1572768"/>
            <a:ext cx="64008" cy="10972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6" name="Shape 13"/>
          <p:cNvSpPr/>
          <p:nvPr/>
        </p:nvSpPr>
        <p:spPr>
          <a:xfrm>
            <a:off x="4892040" y="1728216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847088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 · 갭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486400" y="20116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매매/전세로 실투자금 계산, 갭 작은 단지 랭킹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502920" y="2871216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02920" y="2871216"/>
            <a:ext cx="64008" cy="10972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18"/>
          <p:cNvSpPr/>
          <p:nvPr/>
        </p:nvSpPr>
        <p:spPr>
          <a:xfrm>
            <a:off x="685800" y="302666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145536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280160" y="29900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동네별 · 평형/연식별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280160" y="331012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 안에서 어디가·어떤 평형이 더 올랐나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4709160" y="2871216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709160" y="2871216"/>
            <a:ext cx="64008" cy="10972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Shape 23"/>
          <p:cNvSpPr/>
          <p:nvPr/>
        </p:nvSpPr>
        <p:spPr>
          <a:xfrm>
            <a:off x="4892040" y="302666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145536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486400" y="29900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임대수익률 · 계약해제율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0" y="331012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월세 기준 수익률, 해제 급증 = 과열 신호</a:t>
            </a:r>
            <a:endParaRPr lang="en-US" sz="930" dirty="0"/>
          </a:p>
        </p:txBody>
      </p:sp>
      <p:sp>
        <p:nvSpPr>
          <p:cNvPr id="32" name="Shape 26"/>
          <p:cNvSpPr/>
          <p:nvPr/>
        </p:nvSpPr>
        <p:spPr>
          <a:xfrm>
            <a:off x="502920" y="4169664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41696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 </a:t>
            </a:r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크림+오렌지 톤 HTML 리포트 — 상승률은 첫/마지막 6개월 평균으로, ‘중앙값 기반·참고용’ 한계 명시. 내 성향(M02)과 결합해 타깃 지역 확정.</a:t>
            </a:r>
            <a:endParaRPr lang="en-US" sz="980" dirty="0"/>
          </a:p>
        </p:txBody>
      </p:sp>
      <p:sp>
        <p:nvSpPr>
          <p:cNvPr id="34" name="Text 2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47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2026-07-09T00:19:50Z</dcterms:created>
  <dcterms:modified xsi:type="dcterms:W3CDTF">2026-07-09T00:19:50Z</dcterms:modified>
</cp:coreProperties>
</file>