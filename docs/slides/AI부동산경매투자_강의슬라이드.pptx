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44752" y="3520440"/>
            <a:ext cx="5943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44752" y="3520440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03704" y="3520440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03704" y="3520440"/>
            <a:ext cx="804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72968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72968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규제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5770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5770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 용어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532120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절차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권리분석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 · 토지이용계획원 — 등기부가 안 알려주는 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등기부는 ‘권리관계’를 보여줍니다. 하지만 건물·토지의 ‘사실관계와 규제’는 다른 서류에 있습니다.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72768"/>
            <a:ext cx="64008" cy="25146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704088" y="175564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88640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6245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36245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건물의 사실관계(현황)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5895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면적·구조·용도·층별현황·사용승인일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표제부에 건폐율·용적률도 기재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위반건축물 표시 + 이행강제금 이력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집합건물은 전유부까지 확인 (호실 정보)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09160" y="1572768"/>
            <a:ext cx="393192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09160" y="1572768"/>
            <a:ext cx="64008" cy="25146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4910328" y="175564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886407"/>
            <a:ext cx="241402" cy="24140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68696" y="17556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토지이용계획원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568696" y="20665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토지에 걸린 규제·계획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65192" y="2505456"/>
            <a:ext cx="3456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용도지역·지구단위계획 등 규제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가능 규모(건폐율·용적률 상한)의 근거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도로·공원 등 도시계획시설 저촉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토지이음(eum.go.kr)에서 열람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224528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Text 16"/>
          <p:cNvSpPr/>
          <p:nvPr/>
        </p:nvSpPr>
        <p:spPr>
          <a:xfrm>
            <a:off x="704088" y="42245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vs 건축물대장이 다르면?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면적·용도는 건축물대장(사실관계)이 우선 — 등기부만 믿으면 실제 현황을 놓칩니다.</a:t>
            </a:r>
            <a:endParaRPr lang="en-US" sz="1030" dirty="0"/>
          </a:p>
        </p:txBody>
      </p:sp>
      <p:sp>
        <p:nvSpPr>
          <p:cNvPr id="21" name="Text 1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서류·규제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 · 건폐율 · 용적률 — 땅의 가치를 정하는 3요소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63624"/>
            <a:ext cx="384048" cy="38404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076" y="1663476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5361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24712" y="18379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땅에 무엇을, 얼마나 지을 수 있는지 정하는 도시계획상 분류 (주거·상업·공업·녹지).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502920" y="2441448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441448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224" y="2587752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76" y="2687604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24712" y="2560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24712" y="28620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건축면적(바닥) 비율 — 땅을 얼마나 넓게 덮는가.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502920" y="3465576"/>
            <a:ext cx="39776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465576"/>
            <a:ext cx="64008" cy="9144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649224" y="3611880"/>
            <a:ext cx="384048" cy="38404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76" y="3711732"/>
            <a:ext cx="184343" cy="18434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24712" y="3584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1124712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대지면적 대비 지상층 연면적 비율 — 얼마나 높이(층수) 올릴 수 있는가.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5029200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용도지역 상한 (법정 최대 · 조례로 강화)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19"/>
          <p:cNvSpPr/>
          <p:nvPr/>
        </p:nvSpPr>
        <p:spPr>
          <a:xfrm>
            <a:off x="5029200" y="17007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용도지역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6858000" y="17007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건폐율</a:t>
            </a:r>
            <a:endParaRPr lang="en-US" sz="880" dirty="0"/>
          </a:p>
        </p:txBody>
      </p:sp>
      <p:sp>
        <p:nvSpPr>
          <p:cNvPr id="27" name="Shape 22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3"/>
          <p:cNvSpPr/>
          <p:nvPr/>
        </p:nvSpPr>
        <p:spPr>
          <a:xfrm>
            <a:off x="7754112" y="170078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</a:t>
            </a:r>
            <a:endParaRPr lang="en-US" sz="880" dirty="0"/>
          </a:p>
        </p:txBody>
      </p:sp>
      <p:sp>
        <p:nvSpPr>
          <p:cNvPr id="29" name="Shape 24"/>
          <p:cNvSpPr/>
          <p:nvPr/>
        </p:nvSpPr>
        <p:spPr>
          <a:xfrm>
            <a:off x="5029200" y="2066544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74920" y="206654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제1종전용주거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858000" y="2066544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903720" y="2066544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7754112" y="2066544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7799832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50~100%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5029200" y="2468880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5074920" y="2468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제2종일반주거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858000" y="2468880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903720" y="2468880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60%↓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7754112" y="2468880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799832" y="24688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100~250%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029200" y="2871216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074920" y="287121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제3종일반주거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6858000" y="2871216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903720" y="2871216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50%↓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7754112" y="2871216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799832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100~300%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5029200" y="3273552"/>
            <a:ext cx="18288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5074920" y="327355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준주거지역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858000" y="3273552"/>
            <a:ext cx="896112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903720" y="3273552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70%↓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7754112" y="3273552"/>
            <a:ext cx="914400" cy="402336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799832" y="32735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200~500%</a:t>
            </a:r>
            <a:endParaRPr lang="en-US" sz="850" dirty="0"/>
          </a:p>
        </p:txBody>
      </p:sp>
      <p:sp>
        <p:nvSpPr>
          <p:cNvPr id="53" name="Shape 48"/>
          <p:cNvSpPr/>
          <p:nvPr/>
        </p:nvSpPr>
        <p:spPr>
          <a:xfrm>
            <a:off x="5029200" y="3675888"/>
            <a:ext cx="18288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5074920" y="3675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일반상업지역</a:t>
            </a:r>
            <a:endParaRPr lang="en-US" sz="850" dirty="0"/>
          </a:p>
        </p:txBody>
      </p:sp>
      <p:sp>
        <p:nvSpPr>
          <p:cNvPr id="55" name="Shape 50"/>
          <p:cNvSpPr/>
          <p:nvPr/>
        </p:nvSpPr>
        <p:spPr>
          <a:xfrm>
            <a:off x="6858000" y="3675888"/>
            <a:ext cx="8961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903720" y="3675888"/>
            <a:ext cx="804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80%↓</a:t>
            </a:r>
            <a:endParaRPr lang="en-US" sz="850" dirty="0"/>
          </a:p>
        </p:txBody>
      </p:sp>
      <p:sp>
        <p:nvSpPr>
          <p:cNvPr id="57" name="Shape 52"/>
          <p:cNvSpPr/>
          <p:nvPr/>
        </p:nvSpPr>
        <p:spPr>
          <a:xfrm>
            <a:off x="7754112" y="3675888"/>
            <a:ext cx="9144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7799832" y="36758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~1,300%</a:t>
            </a:r>
            <a:endParaRPr lang="en-US" sz="850" dirty="0"/>
          </a:p>
        </p:txBody>
      </p:sp>
      <p:sp>
        <p:nvSpPr>
          <p:cNvPr id="59" name="Text 54"/>
          <p:cNvSpPr/>
          <p:nvPr/>
        </p:nvSpPr>
        <p:spPr>
          <a:xfrm>
            <a:off x="5029200" y="41513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정확한 수치는 지자체 조례로 더 강화될 수 있어 토지이음에서 개별 확인 필수.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재개발·재건축·꼬마빌딩 신축의 사업성은 결국 용적률에서 갈립니다 — ‘몇 층까지 올릴 수 있나’가 수익의 핵심.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2" name="Text 5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다중·다가구·다세대·연립·도생·생숙 — 6종 구분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35024"/>
            <a:ext cx="14173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557784" y="1335024"/>
            <a:ext cx="1307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920240" y="1335024"/>
            <a:ext cx="169164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1975104" y="1335024"/>
            <a:ext cx="15819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근거법 · 분류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11880" y="1335024"/>
            <a:ext cx="173736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3666744" y="133502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 기준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49240" y="1335024"/>
            <a:ext cx="9601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404104" y="1335024"/>
            <a:ext cx="85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(개별매매)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309360" y="1335024"/>
            <a:ext cx="233172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364224" y="1335024"/>
            <a:ext cx="2221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포인트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810512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181051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다중주택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1920240" y="1810512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81051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3611880" y="181051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85032" y="181051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5349240" y="1810512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22392" y="181051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6309360" y="1810512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181051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취사시설 원칙 없음(고시원 유사)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02920" y="2231136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223113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1920240" y="2231136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2231136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단독주택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611880" y="2231136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85032" y="2231136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3층↓ · 660㎡↓ · 19세대↓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349240" y="2231136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22392" y="2231136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불가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309360" y="2231136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23113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건물 전체 낙찰 → 세대별 권리분석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502920" y="2651760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265176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1920240" y="2651760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2651760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3611880" y="265176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85032" y="2651760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660㎡↓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349240" y="2651760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22392" y="2651760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6309360" y="2651760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265176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호실 단위 낙찰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502920" y="3072384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6072" y="307238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1920240" y="3072384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93392" y="307238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공동주택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3611880" y="3072384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85032" y="3072384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4층↓ · 660㎡초과</a:t>
            </a:r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5349240" y="3072384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22392" y="3072384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6309360" y="3072384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2512" y="3072384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다세대보다 큰 ‘빌라’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02920" y="3493008"/>
            <a:ext cx="1417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6072" y="349300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도시형생활주택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1920240" y="3493008"/>
            <a:ext cx="16916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93392" y="3493008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· 공동주택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3611880" y="349300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85032" y="349300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국민주택규모↓ 소형</a:t>
            </a:r>
            <a:endParaRPr lang="en-US" sz="830" dirty="0"/>
          </a:p>
        </p:txBody>
      </p:sp>
      <p:sp>
        <p:nvSpPr>
          <p:cNvPr id="60" name="Shape 58"/>
          <p:cNvSpPr/>
          <p:nvPr/>
        </p:nvSpPr>
        <p:spPr>
          <a:xfrm>
            <a:off x="5349240" y="3493008"/>
            <a:ext cx="960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22392" y="3493008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62" name="Shape 60"/>
          <p:cNvSpPr/>
          <p:nvPr/>
        </p:nvSpPr>
        <p:spPr>
          <a:xfrm>
            <a:off x="6309360" y="3493008"/>
            <a:ext cx="23317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82512" y="3493008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주차기준 완화 → 주차난 확인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502920" y="3913632"/>
            <a:ext cx="14173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76072" y="391363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생활숙박시설</a:t>
            </a:r>
            <a:endParaRPr lang="en-US" sz="930" dirty="0"/>
          </a:p>
        </p:txBody>
      </p:sp>
      <p:sp>
        <p:nvSpPr>
          <p:cNvPr id="66" name="Shape 64"/>
          <p:cNvSpPr/>
          <p:nvPr/>
        </p:nvSpPr>
        <p:spPr>
          <a:xfrm>
            <a:off x="1920240" y="3913632"/>
            <a:ext cx="169164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993392" y="3913632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건축법 · 숙박시설</a:t>
            </a:r>
            <a:endParaRPr lang="en-US" sz="830" dirty="0"/>
          </a:p>
        </p:txBody>
      </p:sp>
      <p:sp>
        <p:nvSpPr>
          <p:cNvPr id="68" name="Shape 66"/>
          <p:cNvSpPr/>
          <p:nvPr/>
        </p:nvSpPr>
        <p:spPr>
          <a:xfrm>
            <a:off x="3611880" y="3913632"/>
            <a:ext cx="17373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85032" y="391363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(주택 아님)</a:t>
            </a:r>
            <a:endParaRPr lang="en-US" sz="830" dirty="0"/>
          </a:p>
        </p:txBody>
      </p:sp>
      <p:sp>
        <p:nvSpPr>
          <p:cNvPr id="70" name="Shape 68"/>
          <p:cNvSpPr/>
          <p:nvPr/>
        </p:nvSpPr>
        <p:spPr>
          <a:xfrm>
            <a:off x="5349240" y="3913632"/>
            <a:ext cx="9601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22392" y="3913632"/>
            <a:ext cx="813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C7A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가능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6309360" y="3913632"/>
            <a:ext cx="233172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82512" y="3913632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주거·전입 제약, 대출 기준 상이</a:t>
            </a:r>
            <a:endParaRPr lang="en-US" sz="830" dirty="0"/>
          </a:p>
        </p:txBody>
      </p:sp>
      <p:sp>
        <p:nvSpPr>
          <p:cNvPr id="74" name="Text 72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차이 — 다가구(단독주택)는 구분등기 불가라 건물 전체가 통째로 경매되고, 다세대·연립·도생·생숙은 호실별 개별 매매·낙찰이 됩니다.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 — 근린생활시설을 주거로 쓰는 물건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근생주택이란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139696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건축물대장상 용도가 ‘제1·2종 근린생활시설’인데 실제로는 주거로 쓰는 건물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상가주택 위층, 사무실 개조 원룸 등에서 흔함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겉보기엔 빌라·오피스텔과 구분이 안 됨 — 대장 용도로만 확인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‘주택’이 아니므로 세법·대출·청약에서 주택과 다르게 취급될 수 있음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E2611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1572768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42432" y="15910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경매로 받을 때 조심할 것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285232" y="2139696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불법 용도변경(주거)이면 위반건축물 → 이행강제금 승계 위험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주택담보대출이 아닌 상가 기준 → 대출한도 축소·거절 가능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전입신고·대항력 인정 여부가 불확실 → 임차인 권리분석 복잡</a:t>
            </a:r>
            <a:endParaRPr lang="en-US" sz="980" dirty="0"/>
          </a:p>
          <a:p>
            <a:pPr marL="101600" indent="-1016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9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 수 산정·양도세·청약 자격에서 예상과 다르게 처리될 수 있음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건축물대장 ‘용도’를 확인하세요 — 싸 보이는 이유가 근생일 때가 많습니다.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물건·투자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2026-07-08T23:45:33Z</dcterms:created>
  <dcterms:modified xsi:type="dcterms:W3CDTF">2026-07-08T23:45:33Z</dcterms:modified>
</cp:coreProperties>
</file>