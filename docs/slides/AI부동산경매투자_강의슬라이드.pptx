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평당가(만원)</c:v>
                </c:pt>
              </c:strCache>
            </c:strRef>
          </c:tx>
          <c:spPr>
            <a:solidFill>
              <a:srgbClr val="E2611F"/>
            </a:solidFill>
            <a:ln w="31750" cap="flat">
              <a:solidFill>
                <a:srgbClr val="E261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2611F"/>
              </a:solidFill>
              <a:ln w="9525" cap="flat">
                <a:solidFill>
                  <a:srgbClr val="E261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24.1Q</c:v>
                  </c:pt>
                  <c:pt idx="1">
                    <c:v>24.3Q</c:v>
                  </c:pt>
                  <c:pt idx="2">
                    <c:v>25.1Q</c:v>
                  </c:pt>
                  <c:pt idx="3">
                    <c:v>25.3Q</c:v>
                  </c:pt>
                  <c:pt idx="4">
                    <c:v>26.1Q</c:v>
                  </c:pt>
                  <c:pt idx="5">
                    <c:v>26.2Q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1480</c:v>
                </c:pt>
                <c:pt idx="1">
                  <c:v>1445</c:v>
                </c:pt>
                <c:pt idx="2">
                  <c:v>1510</c:v>
                </c:pt>
                <c:pt idx="3">
                  <c:v>1585</c:v>
                </c:pt>
                <c:pt idx="4">
                  <c:v>1660</c:v>
                </c:pt>
                <c:pt idx="5">
                  <c:v>1695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E6A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FE8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E6A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1051560"/>
            <a:ext cx="2377440" cy="2377440"/>
          </a:xfrm>
          <a:prstGeom prst="ellipse">
            <a:avLst/>
          </a:prstGeom>
          <a:solidFill>
            <a:srgbClr val="E2611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645920"/>
            <a:ext cx="1188720" cy="1188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623560" y="2788920"/>
            <a:ext cx="1188720" cy="1188720"/>
          </a:xfrm>
          <a:prstGeom prst="ellipse">
            <a:avLst/>
          </a:prstGeom>
          <a:solidFill>
            <a:srgbClr val="2A3C63"/>
          </a:solidFill>
          <a:ln w="12700">
            <a:solidFill>
              <a:srgbClr val="C9D6EE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168" y="3081528"/>
            <a:ext cx="603504" cy="60350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5669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FASTCAMPUS ONLINE · 2026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502920" y="137160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</a:t>
            </a:r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와 함께하는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502920" y="205740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부동산 경매 투자</a:t>
            </a:r>
            <a:endParaRPr lang="en-US" sz="4400" dirty="0"/>
          </a:p>
        </p:txBody>
      </p:sp>
      <p:sp>
        <p:nvSpPr>
          <p:cNvPr id="9" name="Text 5"/>
          <p:cNvSpPr/>
          <p:nvPr/>
        </p:nvSpPr>
        <p:spPr>
          <a:xfrm>
            <a:off x="502920" y="30632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수집부터 투자 판단까지,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나만의 AI 투자 시스템을 직접 만듭니다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02920" y="411480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2A3C63"/>
          </a:solidFill>
          <a:ln w="9525">
            <a:solidFill>
              <a:srgbClr val="3D548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02920" y="411480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11개 모듈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1517904" y="4114800"/>
            <a:ext cx="772668" cy="384048"/>
          </a:xfrm>
          <a:prstGeom prst="roundRect">
            <a:avLst>
              <a:gd name="adj" fmla="val 50000"/>
            </a:avLst>
          </a:prstGeom>
          <a:solidFill>
            <a:srgbClr val="2A3C63"/>
          </a:solidFill>
          <a:ln w="9525">
            <a:solidFill>
              <a:srgbClr val="3D548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517904" y="4114800"/>
            <a:ext cx="7726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실습 중심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436876" y="4114800"/>
            <a:ext cx="2212848" cy="384048"/>
          </a:xfrm>
          <a:prstGeom prst="roundRect">
            <a:avLst>
              <a:gd name="adj" fmla="val 50000"/>
            </a:avLst>
          </a:prstGeom>
          <a:solidFill>
            <a:srgbClr val="2A3C63"/>
          </a:solidFill>
          <a:ln w="9525">
            <a:solidFill>
              <a:srgbClr val="3D548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436876" y="411480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Python · Claude Code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796028" y="4114800"/>
            <a:ext cx="2020824" cy="384048"/>
          </a:xfrm>
          <a:prstGeom prst="roundRect">
            <a:avLst>
              <a:gd name="adj" fmla="val 50000"/>
            </a:avLst>
          </a:prstGeom>
          <a:solidFill>
            <a:srgbClr val="2A3C63"/>
          </a:solidFill>
          <a:ln w="9525">
            <a:solidFill>
              <a:srgbClr val="3D548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96028" y="4114800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크롤링 → 분석 → AI 에이전트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강의 철학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AI는 데이터를 보여주고, 판단은 사람이 한다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5603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64008" cy="233172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6" name="Shape 4"/>
          <p:cNvSpPr/>
          <p:nvPr/>
        </p:nvSpPr>
        <p:spPr>
          <a:xfrm>
            <a:off x="704088" y="1572768"/>
            <a:ext cx="530352" cy="530352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980" y="1710660"/>
            <a:ext cx="254569" cy="25456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2128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차이는 해석에서 난다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85800" y="25603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경매·실거래·공공데이터는 이미 다 공개돼 있습니다. 데이터를 연결하고 해석해 의사결정으로 잇는 능력이 진짜 경쟁력입니다.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91840" y="1371600"/>
            <a:ext cx="25603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371600"/>
            <a:ext cx="64008" cy="2331720"/>
          </a:xfrm>
          <a:prstGeom prst="rect">
            <a:avLst/>
          </a:prstGeom>
          <a:solidFill>
            <a:srgbClr val="E2611F"/>
          </a:solidFill>
          <a:ln/>
        </p:spPr>
      </p:sp>
      <p:sp>
        <p:nvSpPr>
          <p:cNvPr id="12" name="Shape 9"/>
          <p:cNvSpPr/>
          <p:nvPr/>
        </p:nvSpPr>
        <p:spPr>
          <a:xfrm>
            <a:off x="3493008" y="1572768"/>
            <a:ext cx="530352" cy="530352"/>
          </a:xfrm>
          <a:prstGeom prst="ellipse">
            <a:avLst/>
          </a:prstGeom>
          <a:solidFill>
            <a:srgbClr val="E2611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900" y="1710660"/>
            <a:ext cx="254569" cy="25456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4720" y="22128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AI는 조수다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474720" y="25603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권리분석·코딩·요약, AI마다 잘하는 일이 다릅니다. 적재적소에 쓰되 답은 반드시 검증합니다. 큰돈이 오가는 분야일수록 더욱.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80760" y="1371600"/>
            <a:ext cx="25603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80760" y="1371600"/>
            <a:ext cx="64008" cy="233172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18" name="Shape 14"/>
          <p:cNvSpPr/>
          <p:nvPr/>
        </p:nvSpPr>
        <p:spPr>
          <a:xfrm>
            <a:off x="6281928" y="1572768"/>
            <a:ext cx="530352" cy="530352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820" y="1710660"/>
            <a:ext cx="254569" cy="25456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63640" y="22128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만들기보다 유지보수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263640" y="25603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API가 바뀌고 정책이 바뀝니다. 한 번 만들고 끝이 아니라, 변화를 감시하고 스스로 갱신되는 시스템을 만듭니다.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02920" y="3977640"/>
            <a:ext cx="8138160" cy="56692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23" name="Text 18"/>
          <p:cNvSpPr/>
          <p:nvPr/>
        </p:nvSpPr>
        <p:spPr>
          <a:xfrm>
            <a:off x="502920" y="3977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“AI를 잘 쓰는 사람보다, </a:t>
            </a:r>
            <a:pPr algn="ctr" indent="0" marL="0">
              <a:buNone/>
            </a:pPr>
            <a:r>
              <a:rPr lang="en-US" sz="1350" b="1" dirty="0">
                <a:solidFill>
                  <a:srgbClr val="FFB7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AI를 검증할 줄 아는 사람</a:t>
            </a:r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더 좋은 투자자가 됩니다.”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502920" y="4828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부동산 경매 투자 — 패스트캠퍼스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8229600" y="4828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강의의 목표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나만의 AI 투자 운영체계(OS)를 만든다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7830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00200"/>
            <a:ext cx="64008" cy="1965960"/>
          </a:xfrm>
          <a:prstGeom prst="rect">
            <a:avLst/>
          </a:prstGeom>
          <a:solidFill>
            <a:srgbClr val="E2611F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783080"/>
            <a:ext cx="475488" cy="475488"/>
          </a:xfrm>
          <a:prstGeom prst="ellipse">
            <a:avLst/>
          </a:prstGeom>
          <a:solidFill>
            <a:srgbClr val="E2611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427" y="1906707"/>
            <a:ext cx="228234" cy="22823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10512" y="1801368"/>
            <a:ext cx="310896" cy="310896"/>
          </a:xfrm>
          <a:prstGeom prst="ellipse">
            <a:avLst/>
          </a:prstGeom>
          <a:solidFill>
            <a:srgbClr val="F0E7D8"/>
          </a:solidFill>
          <a:ln/>
        </p:spPr>
      </p:sp>
      <p:sp>
        <p:nvSpPr>
          <p:cNvPr id="9" name="Text 6"/>
          <p:cNvSpPr/>
          <p:nvPr/>
        </p:nvSpPr>
        <p:spPr>
          <a:xfrm>
            <a:off x="1810512" y="17903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67512" y="2423160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자동 수집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7512" y="2898648"/>
            <a:ext cx="1490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법원경매 · 온비드 크롤러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실거래가 API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 rot="5400000">
            <a:off x="2345436" y="2482596"/>
            <a:ext cx="201168" cy="201168"/>
          </a:xfrm>
          <a:prstGeom prst="triangle">
            <a:avLst/>
          </a:prstGeom>
          <a:solidFill>
            <a:srgbClr val="E2611F"/>
          </a:solidFill>
          <a:ln/>
        </p:spPr>
      </p:sp>
      <p:sp>
        <p:nvSpPr>
          <p:cNvPr id="13" name="Shape 10"/>
          <p:cNvSpPr/>
          <p:nvPr/>
        </p:nvSpPr>
        <p:spPr>
          <a:xfrm>
            <a:off x="2606040" y="1600200"/>
            <a:ext cx="17830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606040" y="1600200"/>
            <a:ext cx="64008" cy="1965960"/>
          </a:xfrm>
          <a:prstGeom prst="rect">
            <a:avLst/>
          </a:prstGeom>
          <a:solidFill>
            <a:srgbClr val="E2611F"/>
          </a:solidFill>
          <a:ln/>
        </p:spPr>
      </p:sp>
      <p:sp>
        <p:nvSpPr>
          <p:cNvPr id="15" name="Shape 12"/>
          <p:cNvSpPr/>
          <p:nvPr/>
        </p:nvSpPr>
        <p:spPr>
          <a:xfrm>
            <a:off x="2788920" y="1783080"/>
            <a:ext cx="475488" cy="475488"/>
          </a:xfrm>
          <a:prstGeom prst="ellipse">
            <a:avLst/>
          </a:prstGeom>
          <a:solidFill>
            <a:srgbClr val="E2611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547" y="1906707"/>
            <a:ext cx="228234" cy="22823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913632" y="1801368"/>
            <a:ext cx="310896" cy="310896"/>
          </a:xfrm>
          <a:prstGeom prst="ellipse">
            <a:avLst/>
          </a:prstGeom>
          <a:solidFill>
            <a:srgbClr val="F0E7D8"/>
          </a:solidFill>
          <a:ln/>
        </p:spPr>
      </p:sp>
      <p:sp>
        <p:nvSpPr>
          <p:cNvPr id="18" name="Text 14"/>
          <p:cNvSpPr/>
          <p:nvPr/>
        </p:nvSpPr>
        <p:spPr>
          <a:xfrm>
            <a:off x="3913632" y="17903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770632" y="2423160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나의 기준으로 해석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2770632" y="2898648"/>
            <a:ext cx="1490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성향별 대시보드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지역 · 단지 분석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 rot="5400000">
            <a:off x="4448556" y="2482596"/>
            <a:ext cx="201168" cy="201168"/>
          </a:xfrm>
          <a:prstGeom prst="triangle">
            <a:avLst/>
          </a:prstGeom>
          <a:solidFill>
            <a:srgbClr val="E2611F"/>
          </a:solidFill>
          <a:ln/>
        </p:spPr>
      </p:sp>
      <p:sp>
        <p:nvSpPr>
          <p:cNvPr id="22" name="Shape 18"/>
          <p:cNvSpPr/>
          <p:nvPr/>
        </p:nvSpPr>
        <p:spPr>
          <a:xfrm>
            <a:off x="4709160" y="1600200"/>
            <a:ext cx="17830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709160" y="1600200"/>
            <a:ext cx="64008" cy="1965960"/>
          </a:xfrm>
          <a:prstGeom prst="rect">
            <a:avLst/>
          </a:prstGeom>
          <a:solidFill>
            <a:srgbClr val="E2611F"/>
          </a:solidFill>
          <a:ln/>
        </p:spPr>
      </p:sp>
      <p:sp>
        <p:nvSpPr>
          <p:cNvPr id="24" name="Shape 20"/>
          <p:cNvSpPr/>
          <p:nvPr/>
        </p:nvSpPr>
        <p:spPr>
          <a:xfrm>
            <a:off x="4892040" y="1783080"/>
            <a:ext cx="475488" cy="475488"/>
          </a:xfrm>
          <a:prstGeom prst="ellipse">
            <a:avLst/>
          </a:prstGeom>
          <a:solidFill>
            <a:srgbClr val="E2611F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667" y="1906707"/>
            <a:ext cx="228234" cy="228234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6016752" y="1801368"/>
            <a:ext cx="310896" cy="310896"/>
          </a:xfrm>
          <a:prstGeom prst="ellipse">
            <a:avLst/>
          </a:prstGeom>
          <a:solidFill>
            <a:srgbClr val="F0E7D8"/>
          </a:solidFill>
          <a:ln/>
        </p:spPr>
      </p:sp>
      <p:sp>
        <p:nvSpPr>
          <p:cNvPr id="27" name="Text 22"/>
          <p:cNvSpPr/>
          <p:nvPr/>
        </p:nvSpPr>
        <p:spPr>
          <a:xfrm>
            <a:off x="6016752" y="17903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873752" y="2423160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교차 검증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4873752" y="2898648"/>
            <a:ext cx="1490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권리분석 · 입지분석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에이전트 + 지식베이스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 rot="5400000">
            <a:off x="6551676" y="2482596"/>
            <a:ext cx="201168" cy="201168"/>
          </a:xfrm>
          <a:prstGeom prst="triangle">
            <a:avLst/>
          </a:prstGeom>
          <a:solidFill>
            <a:srgbClr val="E2611F"/>
          </a:solidFill>
          <a:ln/>
        </p:spPr>
      </p:sp>
      <p:sp>
        <p:nvSpPr>
          <p:cNvPr id="31" name="Shape 26"/>
          <p:cNvSpPr/>
          <p:nvPr/>
        </p:nvSpPr>
        <p:spPr>
          <a:xfrm>
            <a:off x="6812280" y="1600200"/>
            <a:ext cx="17830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6812280" y="1600200"/>
            <a:ext cx="64008" cy="196596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3" name="Shape 28"/>
          <p:cNvSpPr/>
          <p:nvPr/>
        </p:nvSpPr>
        <p:spPr>
          <a:xfrm>
            <a:off x="6995160" y="1783080"/>
            <a:ext cx="475488" cy="475488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787" y="1906707"/>
            <a:ext cx="228234" cy="228234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8119872" y="1801368"/>
            <a:ext cx="310896" cy="310896"/>
          </a:xfrm>
          <a:prstGeom prst="ellipse">
            <a:avLst/>
          </a:prstGeom>
          <a:solidFill>
            <a:srgbClr val="F0E7D8"/>
          </a:solidFill>
          <a:ln/>
        </p:spPr>
      </p:sp>
      <p:sp>
        <p:nvSpPr>
          <p:cNvPr id="36" name="Text 30"/>
          <p:cNvSpPr/>
          <p:nvPr/>
        </p:nvSpPr>
        <p:spPr>
          <a:xfrm>
            <a:off x="8119872" y="17903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6976872" y="2423160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사람의 최종 결정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6976872" y="2898648"/>
            <a:ext cx="1490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수익률 시뮬레이션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나의 투자 원칙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502920" y="3977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데이터라도 질문이 다르면 대시보드가 달라집니다 — 갭투자자, 경매 투자자, 실거주자의 화면은 서로 달라야 합니다.</a:t>
            </a:r>
            <a:endParaRPr lang="en-US" sz="1150" dirty="0"/>
          </a:p>
        </p:txBody>
      </p:sp>
      <p:sp>
        <p:nvSpPr>
          <p:cNvPr id="40" name="Text 34"/>
          <p:cNvSpPr/>
          <p:nvPr/>
        </p:nvSpPr>
        <p:spPr>
          <a:xfrm>
            <a:off x="502920" y="4828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부동산 경매 투자 — 패스트캠퍼스</a:t>
            </a:r>
            <a:endParaRPr lang="en-US" sz="850" dirty="0"/>
          </a:p>
        </p:txBody>
      </p:sp>
      <p:sp>
        <p:nvSpPr>
          <p:cNvPr id="41" name="Text 35"/>
          <p:cNvSpPr/>
          <p:nvPr/>
        </p:nvSpPr>
        <p:spPr>
          <a:xfrm>
            <a:off x="8229600" y="4828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커리큘럼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4개 파트 · 11개 모듈 한눈에 보기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581912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경매의 기초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2240280"/>
            <a:ext cx="1883664" cy="475488"/>
          </a:xfrm>
          <a:prstGeom prst="rect">
            <a:avLst/>
          </a:prstGeom>
          <a:solidFill>
            <a:srgbClr val="2A3C63"/>
          </a:solidFill>
          <a:ln w="6350">
            <a:solidFill>
              <a:srgbClr val="3D54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240280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2240280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경매 지식 · 용어 · 절차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587752" y="132588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87752" y="1581912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수집 자동화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2587752" y="2240280"/>
            <a:ext cx="1883664" cy="475488"/>
          </a:xfrm>
          <a:prstGeom prst="rect">
            <a:avLst/>
          </a:prstGeom>
          <a:solidFill>
            <a:srgbClr val="2A3C63"/>
          </a:solidFill>
          <a:ln w="6350">
            <a:solidFill>
              <a:srgbClr val="3D54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9192" y="2240280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44952" y="2240280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투자성향 MBTI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87752" y="2807208"/>
            <a:ext cx="1883664" cy="475488"/>
          </a:xfrm>
          <a:prstGeom prst="rect">
            <a:avLst/>
          </a:prstGeom>
          <a:solidFill>
            <a:srgbClr val="2A3C63"/>
          </a:solidFill>
          <a:ln w="6350">
            <a:solidFill>
              <a:srgbClr val="3D54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79192" y="2807208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044952" y="2807208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법원경매 크롤링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87752" y="3374136"/>
            <a:ext cx="1883664" cy="475488"/>
          </a:xfrm>
          <a:prstGeom prst="rect">
            <a:avLst/>
          </a:prstGeom>
          <a:solidFill>
            <a:srgbClr val="2A3C63"/>
          </a:solidFill>
          <a:ln w="6350">
            <a:solidFill>
              <a:srgbClr val="3D54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79192" y="3374136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044952" y="3374136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온비드 크롤링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87752" y="3941064"/>
            <a:ext cx="1883664" cy="475488"/>
          </a:xfrm>
          <a:prstGeom prst="rect">
            <a:avLst/>
          </a:prstGeom>
          <a:solidFill>
            <a:srgbClr val="2A3C63"/>
          </a:solidFill>
          <a:ln w="6350">
            <a:solidFill>
              <a:srgbClr val="3D54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79192" y="3941064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044952" y="3941064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텔레그램 봇 알림·명령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72584" y="132588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72584" y="1581912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시장 분석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4672584" y="2240280"/>
            <a:ext cx="1883664" cy="475488"/>
          </a:xfrm>
          <a:prstGeom prst="rect">
            <a:avLst/>
          </a:prstGeom>
          <a:solidFill>
            <a:srgbClr val="2A3C63"/>
          </a:solidFill>
          <a:ln w="6350">
            <a:solidFill>
              <a:srgbClr val="3D54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64024" y="2240280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129784" y="2240280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실거래가 단지분석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72584" y="2807208"/>
            <a:ext cx="1883664" cy="475488"/>
          </a:xfrm>
          <a:prstGeom prst="rect">
            <a:avLst/>
          </a:prstGeom>
          <a:solidFill>
            <a:srgbClr val="2A3C63"/>
          </a:solidFill>
          <a:ln w="6350">
            <a:solidFill>
              <a:srgbClr val="3D54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64024" y="2807208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07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129784" y="2807208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지역분석 실습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757416" y="132588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57416" y="1581912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에이전트 · 판단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6757416" y="2240280"/>
            <a:ext cx="1883664" cy="475488"/>
          </a:xfrm>
          <a:prstGeom prst="rect">
            <a:avLst/>
          </a:prstGeom>
          <a:solidFill>
            <a:srgbClr val="2A3C63"/>
          </a:solidFill>
          <a:ln w="6350">
            <a:solidFill>
              <a:srgbClr val="3D54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8856" y="2240280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08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214616" y="2240280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권리분석 에이전트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757416" y="2807208"/>
            <a:ext cx="1883664" cy="475488"/>
          </a:xfrm>
          <a:prstGeom prst="rect">
            <a:avLst/>
          </a:prstGeom>
          <a:solidFill>
            <a:srgbClr val="2A3C63"/>
          </a:solidFill>
          <a:ln w="6350">
            <a:solidFill>
              <a:srgbClr val="3D54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48856" y="2807208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09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214616" y="2807208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입지분석 에이전트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757416" y="3374136"/>
            <a:ext cx="1883664" cy="475488"/>
          </a:xfrm>
          <a:prstGeom prst="rect">
            <a:avLst/>
          </a:prstGeom>
          <a:solidFill>
            <a:srgbClr val="2A3C63"/>
          </a:solidFill>
          <a:ln w="6350">
            <a:solidFill>
              <a:srgbClr val="3D54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48856" y="3374136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214616" y="3374136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수익률 분석기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757416" y="3941064"/>
            <a:ext cx="1883664" cy="475488"/>
          </a:xfrm>
          <a:prstGeom prst="rect">
            <a:avLst/>
          </a:prstGeom>
          <a:solidFill>
            <a:srgbClr val="2A3C63"/>
          </a:solidFill>
          <a:ln w="6350">
            <a:solidFill>
              <a:srgbClr val="3D54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48856" y="3941064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7214616" y="3941064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재개발 투자분석기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02920" y="4828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E9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부동산 경매 투자 — 패스트캠퍼스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229600" y="4828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E9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611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0515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경매의 기초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23317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입찰장에 가기 전에 반드시 알아야 할 지식 — 경매의 구조, 용어, 절차, 그리고 함정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903720" y="1234440"/>
            <a:ext cx="1600200" cy="1600200"/>
          </a:xfrm>
          <a:prstGeom prst="ellipse">
            <a:avLst/>
          </a:prstGeom>
          <a:solidFill>
            <a:srgbClr val="2A3C63"/>
          </a:solidFill>
          <a:ln w="12700">
            <a:solidFill>
              <a:srgbClr val="3D548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056" y="1636776"/>
            <a:ext cx="795528" cy="7955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3520440"/>
            <a:ext cx="699516" cy="420624"/>
          </a:xfrm>
          <a:prstGeom prst="roundRect">
            <a:avLst>
              <a:gd name="adj" fmla="val 50000"/>
            </a:avLst>
          </a:prstGeom>
          <a:solidFill>
            <a:srgbClr val="2A3C63"/>
          </a:solidFill>
          <a:ln w="9525">
            <a:solidFill>
              <a:srgbClr val="3D54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3520440"/>
            <a:ext cx="6995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경매란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549908" y="3520440"/>
            <a:ext cx="594360" cy="420624"/>
          </a:xfrm>
          <a:prstGeom prst="roundRect">
            <a:avLst>
              <a:gd name="adj" fmla="val 50000"/>
            </a:avLst>
          </a:prstGeom>
          <a:solidFill>
            <a:srgbClr val="2A3C63"/>
          </a:solidFill>
          <a:ln w="9525">
            <a:solidFill>
              <a:srgbClr val="3D54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49908" y="3520440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절차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308860" y="3520440"/>
            <a:ext cx="909828" cy="420624"/>
          </a:xfrm>
          <a:prstGeom prst="roundRect">
            <a:avLst>
              <a:gd name="adj" fmla="val 50000"/>
            </a:avLst>
          </a:prstGeom>
          <a:solidFill>
            <a:srgbClr val="2A3C63"/>
          </a:solidFill>
          <a:ln w="9525">
            <a:solidFill>
              <a:srgbClr val="3D54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308860" y="3520440"/>
            <a:ext cx="9098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 용어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383280" y="3520440"/>
            <a:ext cx="1435608" cy="420624"/>
          </a:xfrm>
          <a:prstGeom prst="roundRect">
            <a:avLst>
              <a:gd name="adj" fmla="val 50000"/>
            </a:avLst>
          </a:prstGeom>
          <a:solidFill>
            <a:srgbClr val="2A3C63"/>
          </a:solidFill>
          <a:ln w="9525">
            <a:solidFill>
              <a:srgbClr val="3D54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83280" y="3520440"/>
            <a:ext cx="1435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3대 문서 · 함정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1 · 경매의 기초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경매란 무엇인가 — 왜 시세보다 싸게 살 수 있나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빚을 갚지 못한 채무자의 부동산을 법원이 강제로 매각해 채권자에게 나눠주는 절차입니다. 매수자 입장에서는 ‘법원이 여는 공개 할인 시장’입니다.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377440"/>
            <a:ext cx="3977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2377440"/>
            <a:ext cx="64008" cy="603504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45059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강제경매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783080" y="24505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판결문 등 집행권원으로 채권자가 신청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3090672"/>
            <a:ext cx="3977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3090672"/>
            <a:ext cx="64008" cy="603504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16382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임의경매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783080" y="316382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근저당 등 담보권 실행 — 은행 대출 연체가 대표적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9776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싸게 사는 대가 = </a:t>
            </a:r>
            <a:pPr indent="0" marL="0">
              <a:buNone/>
            </a:pPr>
            <a:r>
              <a:rPr lang="en-US" sz="1200" b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권리분석·명도 리스크를 함께 사는 것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83480" y="2057400"/>
            <a:ext cx="1051560" cy="173736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74650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5.0억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384962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감정가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55080" y="2404872"/>
            <a:ext cx="1051560" cy="1389888"/>
          </a:xfrm>
          <a:prstGeom prst="rect">
            <a:avLst/>
          </a:prstGeom>
          <a:solidFill>
            <a:srgbClr val="4A5E88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209397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4.0억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384962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1회 유찰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26680" y="2679192"/>
            <a:ext cx="1051560" cy="1115568"/>
          </a:xfrm>
          <a:prstGeom prst="rect">
            <a:avLst/>
          </a:prstGeom>
          <a:solidFill>
            <a:srgbClr val="E2611F"/>
          </a:solidFill>
          <a:ln/>
        </p:spPr>
      </p:sp>
      <p:sp>
        <p:nvSpPr>
          <p:cNvPr id="21" name="Text 19"/>
          <p:cNvSpPr/>
          <p:nvPr/>
        </p:nvSpPr>
        <p:spPr>
          <a:xfrm>
            <a:off x="7726680" y="23682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3.2억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26680" y="384962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2회 유찰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4206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유찰될 때마다 최저가가 20~30%씩 내려갑니다 (법원별 상이)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4828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부동산 경매 투자 — 패스트캠퍼스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229600" y="4828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1 · 경매의 기초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법원경매 vs 공매(온비드) — 두 개의 시장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319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64008" cy="301752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6" name="Shape 4"/>
          <p:cNvSpPr/>
          <p:nvPr/>
        </p:nvSpPr>
        <p:spPr>
          <a:xfrm>
            <a:off x="704088" y="1572768"/>
            <a:ext cx="502920" cy="502920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847" y="1703527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44168" y="15910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법원경매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344168" y="18745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courtauction.go.kr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58952" y="228600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민사집행법에 따라 법원이 진행</a:t>
            </a:r>
            <a:endParaRPr lang="en-US" sz="11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부동산 물건이 풍부 (아파트·다세대·토지)</a:t>
            </a:r>
            <a:endParaRPr lang="en-US" sz="11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관할 법원 현장 기일입찰</a:t>
            </a:r>
            <a:endParaRPr lang="en-US" sz="11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권리분석·명도가 수익의 핵심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09160" y="1371600"/>
            <a:ext cx="39319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1371600"/>
            <a:ext cx="64008" cy="3017520"/>
          </a:xfrm>
          <a:prstGeom prst="rect">
            <a:avLst/>
          </a:prstGeom>
          <a:solidFill>
            <a:srgbClr val="E2611F"/>
          </a:solidFill>
          <a:ln/>
        </p:spPr>
      </p:sp>
      <p:sp>
        <p:nvSpPr>
          <p:cNvPr id="13" name="Shape 10"/>
          <p:cNvSpPr/>
          <p:nvPr/>
        </p:nvSpPr>
        <p:spPr>
          <a:xfrm>
            <a:off x="4910328" y="1572768"/>
            <a:ext cx="502920" cy="502920"/>
          </a:xfrm>
          <a:prstGeom prst="ellipse">
            <a:avLst/>
          </a:prstGeom>
          <a:solidFill>
            <a:srgbClr val="E2611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087" y="1703527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50408" y="15910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공매 · 온비드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5550408" y="18745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onbid.co.kr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965192" y="228600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캠코(한국자산관리공사) 운영</a:t>
            </a:r>
            <a:endParaRPr lang="en-US" sz="11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압류재산 · 국공유재산 · 수탁재산</a:t>
            </a:r>
            <a:endParaRPr lang="en-US" sz="11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100% 온라인 전자입찰 — 직장인 친화</a:t>
            </a:r>
            <a:endParaRPr lang="en-US" sz="11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경매 대비 경쟁 정보가 적어 기회 여지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02920" y="4526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강의에서는 둘 다 크롤링합니다 — 모듈 03(법원경매) · 04(온비드)에서 하나의 물건 DB로 통합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02920" y="4828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부동산 경매 투자 — 패스트캠퍼스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8229600" y="4828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1 · 경매의 기초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경매 절차 한눈에 — 신청부터 명도까지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883664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17320"/>
            <a:ext cx="64008" cy="1170432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6" name="Shape 4"/>
          <p:cNvSpPr/>
          <p:nvPr/>
        </p:nvSpPr>
        <p:spPr>
          <a:xfrm>
            <a:off x="649224" y="1554480"/>
            <a:ext cx="329184" cy="329184"/>
          </a:xfrm>
          <a:prstGeom prst="ellipse">
            <a:avLst/>
          </a:prstGeom>
          <a:solidFill>
            <a:srgbClr val="1C2B4A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" y="154350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536192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경매신청 · 개시결정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" y="2075688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압류 효력 발생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 rot="5400000">
            <a:off x="2423160" y="1920240"/>
            <a:ext cx="137160" cy="137160"/>
          </a:xfrm>
          <a:prstGeom prst="triangle">
            <a:avLst/>
          </a:prstGeom>
          <a:solidFill>
            <a:srgbClr val="C9BBA4"/>
          </a:solidFill>
          <a:ln/>
        </p:spPr>
      </p:sp>
      <p:sp>
        <p:nvSpPr>
          <p:cNvPr id="11" name="Shape 9"/>
          <p:cNvSpPr/>
          <p:nvPr/>
        </p:nvSpPr>
        <p:spPr>
          <a:xfrm>
            <a:off x="2587752" y="1417320"/>
            <a:ext cx="1883664" cy="1170432"/>
          </a:xfrm>
          <a:prstGeom prst="rect">
            <a:avLst/>
          </a:prstGeom>
          <a:solidFill>
            <a:srgbClr val="FDEFE5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87752" y="1417320"/>
            <a:ext cx="64008" cy="1170432"/>
          </a:xfrm>
          <a:prstGeom prst="rect">
            <a:avLst/>
          </a:prstGeom>
          <a:solidFill>
            <a:srgbClr val="E2611F"/>
          </a:solidFill>
          <a:ln/>
        </p:spPr>
      </p:sp>
      <p:sp>
        <p:nvSpPr>
          <p:cNvPr id="13" name="Shape 11"/>
          <p:cNvSpPr/>
          <p:nvPr/>
        </p:nvSpPr>
        <p:spPr>
          <a:xfrm>
            <a:off x="2734056" y="1554480"/>
            <a:ext cx="329184" cy="329184"/>
          </a:xfrm>
          <a:prstGeom prst="ellipse">
            <a:avLst/>
          </a:prstGeom>
          <a:solidFill>
            <a:srgbClr val="E2611F"/>
          </a:solidFill>
          <a:ln/>
        </p:spPr>
      </p:sp>
      <p:sp>
        <p:nvSpPr>
          <p:cNvPr id="14" name="Text 12"/>
          <p:cNvSpPr/>
          <p:nvPr/>
        </p:nvSpPr>
        <p:spPr>
          <a:xfrm>
            <a:off x="2734056" y="154350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36392" y="1536192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배당요구종기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34056" y="2075688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권리분석의 기준 시점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 rot="5400000">
            <a:off x="4507992" y="1920240"/>
            <a:ext cx="137160" cy="137160"/>
          </a:xfrm>
          <a:prstGeom prst="triangle">
            <a:avLst/>
          </a:prstGeom>
          <a:solidFill>
            <a:srgbClr val="C9BBA4"/>
          </a:solidFill>
          <a:ln/>
        </p:spPr>
      </p:sp>
      <p:sp>
        <p:nvSpPr>
          <p:cNvPr id="18" name="Shape 16"/>
          <p:cNvSpPr/>
          <p:nvPr/>
        </p:nvSpPr>
        <p:spPr>
          <a:xfrm>
            <a:off x="4672584" y="1417320"/>
            <a:ext cx="1883664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72584" y="1417320"/>
            <a:ext cx="64008" cy="1170432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20" name="Shape 18"/>
          <p:cNvSpPr/>
          <p:nvPr/>
        </p:nvSpPr>
        <p:spPr>
          <a:xfrm>
            <a:off x="4818888" y="1554480"/>
            <a:ext cx="329184" cy="329184"/>
          </a:xfrm>
          <a:prstGeom prst="ellipse">
            <a:avLst/>
          </a:prstGeom>
          <a:solidFill>
            <a:srgbClr val="1C2B4A"/>
          </a:solidFill>
          <a:ln/>
        </p:spPr>
      </p:sp>
      <p:sp>
        <p:nvSpPr>
          <p:cNvPr id="21" name="Text 19"/>
          <p:cNvSpPr/>
          <p:nvPr/>
        </p:nvSpPr>
        <p:spPr>
          <a:xfrm>
            <a:off x="4818888" y="154350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21224" y="1536192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감정평가 · 현황조사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18888" y="2075688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감정가 · 점유관계 확정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 rot="5400000">
            <a:off x="6592824" y="1920240"/>
            <a:ext cx="137160" cy="137160"/>
          </a:xfrm>
          <a:prstGeom prst="triangle">
            <a:avLst/>
          </a:prstGeom>
          <a:solidFill>
            <a:srgbClr val="C9BBA4"/>
          </a:solidFill>
          <a:ln/>
        </p:spPr>
      </p:sp>
      <p:sp>
        <p:nvSpPr>
          <p:cNvPr id="25" name="Shape 23"/>
          <p:cNvSpPr/>
          <p:nvPr/>
        </p:nvSpPr>
        <p:spPr>
          <a:xfrm>
            <a:off x="6757416" y="1417320"/>
            <a:ext cx="1883664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57416" y="1417320"/>
            <a:ext cx="64008" cy="1170432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27" name="Shape 25"/>
          <p:cNvSpPr/>
          <p:nvPr/>
        </p:nvSpPr>
        <p:spPr>
          <a:xfrm>
            <a:off x="6903720" y="1554480"/>
            <a:ext cx="329184" cy="329184"/>
          </a:xfrm>
          <a:prstGeom prst="ellipse">
            <a:avLst/>
          </a:prstGeom>
          <a:solidFill>
            <a:srgbClr val="1C2B4A"/>
          </a:solidFill>
          <a:ln/>
        </p:spPr>
      </p:sp>
      <p:sp>
        <p:nvSpPr>
          <p:cNvPr id="28" name="Text 26"/>
          <p:cNvSpPr/>
          <p:nvPr/>
        </p:nvSpPr>
        <p:spPr>
          <a:xfrm>
            <a:off x="6903720" y="154350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06056" y="1536192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매각공고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903720" y="2075688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물건명세서 공개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" y="2971800"/>
            <a:ext cx="1883664" cy="1170432"/>
          </a:xfrm>
          <a:prstGeom prst="rect">
            <a:avLst/>
          </a:prstGeom>
          <a:solidFill>
            <a:srgbClr val="FDEFE5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2920" y="2971800"/>
            <a:ext cx="64008" cy="1170432"/>
          </a:xfrm>
          <a:prstGeom prst="rect">
            <a:avLst/>
          </a:prstGeom>
          <a:solidFill>
            <a:srgbClr val="E2611F"/>
          </a:solidFill>
          <a:ln/>
        </p:spPr>
      </p:sp>
      <p:sp>
        <p:nvSpPr>
          <p:cNvPr id="33" name="Shape 31"/>
          <p:cNvSpPr/>
          <p:nvPr/>
        </p:nvSpPr>
        <p:spPr>
          <a:xfrm>
            <a:off x="649224" y="3108960"/>
            <a:ext cx="329184" cy="329184"/>
          </a:xfrm>
          <a:prstGeom prst="ellipse">
            <a:avLst/>
          </a:prstGeom>
          <a:solidFill>
            <a:srgbClr val="E2611F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" y="309798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51560" y="3090672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입찰 · 개찰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9224" y="3630168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최고가매수신고인 결정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 rot="5400000">
            <a:off x="2423160" y="3474720"/>
            <a:ext cx="137160" cy="137160"/>
          </a:xfrm>
          <a:prstGeom prst="triangle">
            <a:avLst/>
          </a:prstGeom>
          <a:solidFill>
            <a:srgbClr val="C9BBA4"/>
          </a:solidFill>
          <a:ln/>
        </p:spPr>
      </p:sp>
      <p:sp>
        <p:nvSpPr>
          <p:cNvPr id="38" name="Shape 36"/>
          <p:cNvSpPr/>
          <p:nvPr/>
        </p:nvSpPr>
        <p:spPr>
          <a:xfrm>
            <a:off x="2587752" y="2971800"/>
            <a:ext cx="1883664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587752" y="2971800"/>
            <a:ext cx="64008" cy="1170432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40" name="Shape 38"/>
          <p:cNvSpPr/>
          <p:nvPr/>
        </p:nvSpPr>
        <p:spPr>
          <a:xfrm>
            <a:off x="2734056" y="3108960"/>
            <a:ext cx="329184" cy="329184"/>
          </a:xfrm>
          <a:prstGeom prst="ellipse">
            <a:avLst/>
          </a:prstGeom>
          <a:solidFill>
            <a:srgbClr val="1C2B4A"/>
          </a:solidFill>
          <a:ln/>
        </p:spPr>
      </p:sp>
      <p:sp>
        <p:nvSpPr>
          <p:cNvPr id="41" name="Text 39"/>
          <p:cNvSpPr/>
          <p:nvPr/>
        </p:nvSpPr>
        <p:spPr>
          <a:xfrm>
            <a:off x="2734056" y="309798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136392" y="3090672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매각허가 · 잔금납부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734056" y="3630168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대금 완납 시 소유권 취득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 rot="5400000">
            <a:off x="4507992" y="3474720"/>
            <a:ext cx="137160" cy="137160"/>
          </a:xfrm>
          <a:prstGeom prst="triangle">
            <a:avLst/>
          </a:prstGeom>
          <a:solidFill>
            <a:srgbClr val="C9BBA4"/>
          </a:solidFill>
          <a:ln/>
        </p:spPr>
      </p:sp>
      <p:sp>
        <p:nvSpPr>
          <p:cNvPr id="45" name="Shape 43"/>
          <p:cNvSpPr/>
          <p:nvPr/>
        </p:nvSpPr>
        <p:spPr>
          <a:xfrm>
            <a:off x="4672584" y="2971800"/>
            <a:ext cx="1883664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72584" y="2971800"/>
            <a:ext cx="64008" cy="1170432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47" name="Shape 45"/>
          <p:cNvSpPr/>
          <p:nvPr/>
        </p:nvSpPr>
        <p:spPr>
          <a:xfrm>
            <a:off x="4818888" y="3108960"/>
            <a:ext cx="329184" cy="329184"/>
          </a:xfrm>
          <a:prstGeom prst="ellipse">
            <a:avLst/>
          </a:prstGeom>
          <a:solidFill>
            <a:srgbClr val="1C2B4A"/>
          </a:solidFill>
          <a:ln/>
        </p:spPr>
      </p:sp>
      <p:sp>
        <p:nvSpPr>
          <p:cNvPr id="48" name="Text 46"/>
          <p:cNvSpPr/>
          <p:nvPr/>
        </p:nvSpPr>
        <p:spPr>
          <a:xfrm>
            <a:off x="4818888" y="309798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221224" y="3090672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배당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818888" y="3630168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채권자들에게 순위대로 분배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 rot="5400000">
            <a:off x="6592824" y="3474720"/>
            <a:ext cx="137160" cy="137160"/>
          </a:xfrm>
          <a:prstGeom prst="triangle">
            <a:avLst/>
          </a:prstGeom>
          <a:solidFill>
            <a:srgbClr val="C9BBA4"/>
          </a:solidFill>
          <a:ln/>
        </p:spPr>
      </p:sp>
      <p:sp>
        <p:nvSpPr>
          <p:cNvPr id="52" name="Shape 50"/>
          <p:cNvSpPr/>
          <p:nvPr/>
        </p:nvSpPr>
        <p:spPr>
          <a:xfrm>
            <a:off x="6757416" y="2971800"/>
            <a:ext cx="1883664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757416" y="2971800"/>
            <a:ext cx="64008" cy="1170432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54" name="Shape 52"/>
          <p:cNvSpPr/>
          <p:nvPr/>
        </p:nvSpPr>
        <p:spPr>
          <a:xfrm>
            <a:off x="6903720" y="3108960"/>
            <a:ext cx="329184" cy="329184"/>
          </a:xfrm>
          <a:prstGeom prst="ellipse">
            <a:avLst/>
          </a:prstGeom>
          <a:solidFill>
            <a:srgbClr val="1C2B4A"/>
          </a:solidFill>
          <a:ln/>
        </p:spPr>
      </p:sp>
      <p:sp>
        <p:nvSpPr>
          <p:cNvPr id="55" name="Text 53"/>
          <p:cNvSpPr/>
          <p:nvPr/>
        </p:nvSpPr>
        <p:spPr>
          <a:xfrm>
            <a:off x="6903720" y="309798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306056" y="3090672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명도(인도)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903720" y="3630168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점유자 내보내기 — 인도명령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02920" y="455371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주황 단계가 투자자의 승부처 — 배당요구종기로 권리를 읽고, 입찰가로 수익을 결정합니다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02920" y="4828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부동산 경매 투자 — 패스트캠퍼스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8229600" y="4828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1 · 핵심 용어 ①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가격을 읽는 4개의 용어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3192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64008" cy="129844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49047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감정가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04088" y="1828800"/>
            <a:ext cx="3547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감정평가사가 매긴 기준 가격. 첫 매각기일의 최저가가 됩니다. 시세와 다를 수 있어 그대로 믿으면 안 됩니다.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93192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371600"/>
            <a:ext cx="64008" cy="1298448"/>
          </a:xfrm>
          <a:prstGeom prst="rect">
            <a:avLst/>
          </a:prstGeom>
          <a:solidFill>
            <a:srgbClr val="E2611F"/>
          </a:solidFill>
          <a:ln/>
        </p:spPr>
      </p:sp>
      <p:sp>
        <p:nvSpPr>
          <p:cNvPr id="10" name="Text 8"/>
          <p:cNvSpPr/>
          <p:nvPr/>
        </p:nvSpPr>
        <p:spPr>
          <a:xfrm>
            <a:off x="4910328" y="149047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최저가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10328" y="1828800"/>
            <a:ext cx="3547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이번 회차에 입찰할 수 있는 최소 금액. 유찰될 때마다 20~30%씩 낮아집니다.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898648"/>
            <a:ext cx="393192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898648"/>
            <a:ext cx="64008" cy="129844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30175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유찰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4088" y="3355848"/>
            <a:ext cx="3547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입찰자가 아무도 없어 다음 회차로 넘어가는 것. 유찰 횟수는 물건의 하자 신호이자 가격 기회의 신호입니다.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898648"/>
            <a:ext cx="393192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898648"/>
            <a:ext cx="64008" cy="1298448"/>
          </a:xfrm>
          <a:prstGeom prst="rect">
            <a:avLst/>
          </a:prstGeom>
          <a:solidFill>
            <a:srgbClr val="E2611F"/>
          </a:solidFill>
          <a:ln/>
        </p:spPr>
      </p:sp>
      <p:sp>
        <p:nvSpPr>
          <p:cNvPr id="18" name="Text 16"/>
          <p:cNvSpPr/>
          <p:nvPr/>
        </p:nvSpPr>
        <p:spPr>
          <a:xfrm>
            <a:off x="4910328" y="30175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낙찰가율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10328" y="3355848"/>
            <a:ext cx="3547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낙찰가 ÷ 감정가. 지역·물건별 경쟁 강도와 시세 흐름을 읽는 핵심 지표 — 입찰가 산정의 출발점입니다.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480560"/>
            <a:ext cx="8138160" cy="402336"/>
          </a:xfrm>
          <a:prstGeom prst="rect">
            <a:avLst/>
          </a:prstGeom>
          <a:solidFill>
            <a:srgbClr val="FDEFE5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62856"/>
            <a:ext cx="237744" cy="23774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78408" y="448056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감정가는 ‘정답’이 아닙니다 — 실거래가(모듈 06)와 반드시 교차 확인합니다.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02920" y="4828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부동산 경매 투자 — 패스트캠퍼스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8229600" y="4828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1 · 핵심 용어 ②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권리를 읽는 4개의 용어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3192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64008" cy="129844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49047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말소기준권리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04088" y="1828800"/>
            <a:ext cx="3547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가장 앞선 근저당·압류 등. 이보다 늦은 권리는 낙찰로 소멸, 빠른 권리는 낙찰자가 인수할 수 있습니다.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93192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371600"/>
            <a:ext cx="64008" cy="1298448"/>
          </a:xfrm>
          <a:prstGeom prst="rect">
            <a:avLst/>
          </a:prstGeom>
          <a:solidFill>
            <a:srgbClr val="E2611F"/>
          </a:solidFill>
          <a:ln/>
        </p:spPr>
      </p:sp>
      <p:sp>
        <p:nvSpPr>
          <p:cNvPr id="10" name="Text 8"/>
          <p:cNvSpPr/>
          <p:nvPr/>
        </p:nvSpPr>
        <p:spPr>
          <a:xfrm>
            <a:off x="4910328" y="149047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대항력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10328" y="1828800"/>
            <a:ext cx="3547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임차인이 전입신고 + 인도를 마치면 다음 날 0시부터 발생. 말소기준보다 빠르면 보증금 인수 위험.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898648"/>
            <a:ext cx="393192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898648"/>
            <a:ext cx="64008" cy="129844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30175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배당요구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4088" y="3355848"/>
            <a:ext cx="3547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종기 내에 요구해야만 배당받는 권리자가 있습니다. 임차인의 확정일자 우선변제·최우선변제가 대표적.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898648"/>
            <a:ext cx="393192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898648"/>
            <a:ext cx="64008" cy="1298448"/>
          </a:xfrm>
          <a:prstGeom prst="rect">
            <a:avLst/>
          </a:prstGeom>
          <a:solidFill>
            <a:srgbClr val="E2611F"/>
          </a:solidFill>
          <a:ln/>
        </p:spPr>
      </p:sp>
      <p:sp>
        <p:nvSpPr>
          <p:cNvPr id="18" name="Text 16"/>
          <p:cNvSpPr/>
          <p:nvPr/>
        </p:nvSpPr>
        <p:spPr>
          <a:xfrm>
            <a:off x="4910328" y="30175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인수 vs 소멸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10328" y="3355848"/>
            <a:ext cx="3547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낙찰 후에도 남는 권리인가? 인수금이 있으면 실투자금이 달라집니다 — 입찰가에서 반드시 차감.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480560"/>
            <a:ext cx="8138160" cy="402336"/>
          </a:xfrm>
          <a:prstGeom prst="rect">
            <a:avLst/>
          </a:prstGeom>
          <a:solidFill>
            <a:srgbClr val="FDEFE5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62856"/>
            <a:ext cx="237744" cy="23774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78408" y="448056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“최우선변제 = 무조건 1순위” 아닙니다 — 배당요구종기 내 배당요구가 요건입니다. (AI도 자주 틀리는 지점)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02920" y="4828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부동산 경매 투자 — 패스트캠퍼스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8229600" y="4828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1 · 경매의 기초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입찰 전 반드시 읽는 3대 문서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5603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64008" cy="228600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6" name="Shape 4"/>
          <p:cNvSpPr/>
          <p:nvPr/>
        </p:nvSpPr>
        <p:spPr>
          <a:xfrm>
            <a:off x="704088" y="1572768"/>
            <a:ext cx="502920" cy="502920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847" y="1703527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19456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매각물건명세서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85800" y="25146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임차인 현황과 인수되는 권리를 법원이 공식 기재. 잘못 기재되면 매각불허가 사유 — 가장 신뢰도 높은 문서.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91840" y="1371600"/>
            <a:ext cx="25603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371600"/>
            <a:ext cx="64008" cy="228600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12" name="Shape 9"/>
          <p:cNvSpPr/>
          <p:nvPr/>
        </p:nvSpPr>
        <p:spPr>
          <a:xfrm>
            <a:off x="3493008" y="1572768"/>
            <a:ext cx="502920" cy="502920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767" y="1703527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4720" y="219456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현황조사서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474720" y="25146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집행관이 현장을 직접 조사한 기록. 점유자가 누구인지, 임대차 관계는 어떤지 — 현장의 1차 정보.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80760" y="1371600"/>
            <a:ext cx="25603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80760" y="1371600"/>
            <a:ext cx="64008" cy="228600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18" name="Shape 14"/>
          <p:cNvSpPr/>
          <p:nvPr/>
        </p:nvSpPr>
        <p:spPr>
          <a:xfrm>
            <a:off x="6281928" y="1572768"/>
            <a:ext cx="502920" cy="502920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687" y="1703527"/>
            <a:ext cx="241402" cy="24140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63640" y="219456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감정평가서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263640" y="25146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감정가의 산출 근거. 위치·구조·이용상태와 주변 시세 자료 — 물건의 스펙을 파악하는 출발점.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02920" y="3931920"/>
            <a:ext cx="8138160" cy="621792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23" name="Text 18"/>
          <p:cNvSpPr/>
          <p:nvPr/>
        </p:nvSpPr>
        <p:spPr>
          <a:xfrm>
            <a:off x="731520" y="3931920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+ 인근매각사례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까지 4종 세트로 봅니다. 모듈 08에서 이 문서들을 </a:t>
            </a:r>
            <a:pPr indent="0" marL="0">
              <a:buNone/>
            </a:pPr>
            <a:r>
              <a:rPr lang="en-US" sz="1200" b="1" dirty="0">
                <a:solidFill>
                  <a:srgbClr val="FFB7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에이전트가 자동으로 읽고 구조화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하게 만듭니다.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02920" y="4828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부동산 경매 투자 — 패스트캠퍼스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8229600" y="4828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1 · 경매의 기초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경매의 3대 함정 — 알면 기회, 모르면 손실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56032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64008" cy="2788920"/>
          </a:xfrm>
          <a:prstGeom prst="rect">
            <a:avLst/>
          </a:prstGeom>
          <a:solidFill>
            <a:srgbClr val="E2611F"/>
          </a:solidFill>
          <a:ln/>
        </p:spPr>
      </p:sp>
      <p:sp>
        <p:nvSpPr>
          <p:cNvPr id="6" name="Shape 4"/>
          <p:cNvSpPr/>
          <p:nvPr/>
        </p:nvSpPr>
        <p:spPr>
          <a:xfrm>
            <a:off x="704088" y="1554480"/>
            <a:ext cx="475488" cy="475488"/>
          </a:xfrm>
          <a:prstGeom prst="ellipse">
            <a:avLst/>
          </a:prstGeom>
          <a:solidFill>
            <a:srgbClr val="E2611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715" y="1678107"/>
            <a:ext cx="228234" cy="2282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07592" y="16276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선순위 임차인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85800" y="21945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말소기준보다 빠른 대항력 임차인의 보증금은 낙찰자가 인수 — 실투자금이 급증합니다.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67512" y="3200400"/>
            <a:ext cx="2231136" cy="777240"/>
          </a:xfrm>
          <a:prstGeom prst="rect">
            <a:avLst/>
          </a:prstGeom>
          <a:solidFill>
            <a:srgbClr val="F0E7D8"/>
          </a:solidFill>
          <a:ln/>
        </p:spPr>
      </p:sp>
      <p:sp>
        <p:nvSpPr>
          <p:cNvPr id="11" name="Text 8"/>
          <p:cNvSpPr/>
          <p:nvPr/>
        </p:nvSpPr>
        <p:spPr>
          <a:xfrm>
            <a:off x="758952" y="3246120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확인법  </a:t>
            </a:r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전입일 vs 말소기준권리 날짜 비교, 배당요구 여부 확인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3291840" y="1371600"/>
            <a:ext cx="256032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1371600"/>
            <a:ext cx="64008" cy="2788920"/>
          </a:xfrm>
          <a:prstGeom prst="rect">
            <a:avLst/>
          </a:prstGeom>
          <a:solidFill>
            <a:srgbClr val="E2611F"/>
          </a:solidFill>
          <a:ln/>
        </p:spPr>
      </p:sp>
      <p:sp>
        <p:nvSpPr>
          <p:cNvPr id="14" name="Shape 11"/>
          <p:cNvSpPr/>
          <p:nvPr/>
        </p:nvSpPr>
        <p:spPr>
          <a:xfrm>
            <a:off x="3493008" y="1554480"/>
            <a:ext cx="475488" cy="475488"/>
          </a:xfrm>
          <a:prstGeom prst="ellipse">
            <a:avLst/>
          </a:prstGeom>
          <a:solidFill>
            <a:srgbClr val="E2611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635" y="1678107"/>
            <a:ext cx="228234" cy="22823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96512" y="16276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유치권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3474720" y="21945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공사대금을 못 받았다며 점유 — 명도가 막히고 협상 비용이 듭니다. 허위 신고도 빈번.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456432" y="3200400"/>
            <a:ext cx="2231136" cy="777240"/>
          </a:xfrm>
          <a:prstGeom prst="rect">
            <a:avLst/>
          </a:prstGeom>
          <a:solidFill>
            <a:srgbClr val="F0E7D8"/>
          </a:solidFill>
          <a:ln/>
        </p:spPr>
      </p:sp>
      <p:sp>
        <p:nvSpPr>
          <p:cNvPr id="19" name="Text 15"/>
          <p:cNvSpPr/>
          <p:nvPr/>
        </p:nvSpPr>
        <p:spPr>
          <a:xfrm>
            <a:off x="3547872" y="3246120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확인법  </a:t>
            </a:r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경매개시 후 성립한 유치권은 원칙적 대항 불가 (예외 판례 존재)</a:t>
            </a:r>
            <a:endParaRPr lang="en-US" sz="880" dirty="0"/>
          </a:p>
        </p:txBody>
      </p:sp>
      <p:sp>
        <p:nvSpPr>
          <p:cNvPr id="20" name="Shape 16"/>
          <p:cNvSpPr/>
          <p:nvPr/>
        </p:nvSpPr>
        <p:spPr>
          <a:xfrm>
            <a:off x="6080760" y="1371600"/>
            <a:ext cx="256032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80760" y="1371600"/>
            <a:ext cx="64008" cy="2788920"/>
          </a:xfrm>
          <a:prstGeom prst="rect">
            <a:avLst/>
          </a:prstGeom>
          <a:solidFill>
            <a:srgbClr val="E2611F"/>
          </a:solidFill>
          <a:ln/>
        </p:spPr>
      </p:sp>
      <p:sp>
        <p:nvSpPr>
          <p:cNvPr id="22" name="Shape 18"/>
          <p:cNvSpPr/>
          <p:nvPr/>
        </p:nvSpPr>
        <p:spPr>
          <a:xfrm>
            <a:off x="6281928" y="1554480"/>
            <a:ext cx="475488" cy="475488"/>
          </a:xfrm>
          <a:prstGeom prst="ellipse">
            <a:avLst/>
          </a:prstGeom>
          <a:solidFill>
            <a:srgbClr val="E2611F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555" y="1678107"/>
            <a:ext cx="228234" cy="22823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885432" y="16276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법정지상권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6263640" y="21945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토지만 낙찰받아도 건물을 철거시킬 수 없는 권리 — 토지 활용가치가 급락합니다.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245352" y="3200400"/>
            <a:ext cx="2231136" cy="777240"/>
          </a:xfrm>
          <a:prstGeom prst="rect">
            <a:avLst/>
          </a:prstGeom>
          <a:solidFill>
            <a:srgbClr val="F0E7D8"/>
          </a:solidFill>
          <a:ln/>
        </p:spPr>
      </p:sp>
      <p:sp>
        <p:nvSpPr>
          <p:cNvPr id="27" name="Text 22"/>
          <p:cNvSpPr/>
          <p:nvPr/>
        </p:nvSpPr>
        <p:spPr>
          <a:xfrm>
            <a:off x="6336792" y="3246120"/>
            <a:ext cx="2048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확인법  </a:t>
            </a:r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압류 효력 발생 시점에 토지·건물이 동일인 소유였는지 확인</a:t>
            </a:r>
            <a:endParaRPr lang="en-US" sz="880" dirty="0"/>
          </a:p>
        </p:txBody>
      </p:sp>
      <p:sp>
        <p:nvSpPr>
          <p:cNvPr id="28" name="Text 23"/>
          <p:cNvSpPr/>
          <p:nvPr/>
        </p:nvSpPr>
        <p:spPr>
          <a:xfrm>
            <a:off x="502920" y="4434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함정은 진입장벽이고, 진입장벽은 준비된 사람에게 수익입니다 — 그래서 권리분석을 배웁니다.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502920" y="4828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부동산 경매 투자 — 패스트캠퍼스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8229600" y="4828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611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0515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2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수집 자동화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23317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 성향을 알고, 물건 데이터가 매일 아침 내 손안에 도착하게 만듭니다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903720" y="1234440"/>
            <a:ext cx="1600200" cy="1600200"/>
          </a:xfrm>
          <a:prstGeom prst="ellipse">
            <a:avLst/>
          </a:prstGeom>
          <a:solidFill>
            <a:srgbClr val="2A3C63"/>
          </a:solidFill>
          <a:ln w="12700">
            <a:solidFill>
              <a:srgbClr val="3D548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056" y="1636776"/>
            <a:ext cx="795528" cy="7955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3520440"/>
            <a:ext cx="1604772" cy="420624"/>
          </a:xfrm>
          <a:prstGeom prst="roundRect">
            <a:avLst>
              <a:gd name="adj" fmla="val 50000"/>
            </a:avLst>
          </a:prstGeom>
          <a:solidFill>
            <a:srgbClr val="2A3C63"/>
          </a:solidFill>
          <a:ln w="9525">
            <a:solidFill>
              <a:srgbClr val="3D54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3520440"/>
            <a:ext cx="16047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  </a:t>
            </a:r>
            <a:pPr algn="ctr" indent="0" marL="0">
              <a:buNone/>
            </a:pPr>
            <a:r>
              <a:rPr lang="en-US" sz="105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투자성향 MBTI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455164" y="3520440"/>
            <a:ext cx="1499616" cy="420624"/>
          </a:xfrm>
          <a:prstGeom prst="roundRect">
            <a:avLst>
              <a:gd name="adj" fmla="val 50000"/>
            </a:avLst>
          </a:prstGeom>
          <a:solidFill>
            <a:srgbClr val="2A3C63"/>
          </a:solidFill>
          <a:ln w="9525">
            <a:solidFill>
              <a:srgbClr val="3D54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55164" y="3520440"/>
            <a:ext cx="1499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  </a:t>
            </a:r>
            <a:pPr algn="ctr" indent="0" marL="0">
              <a:buNone/>
            </a:pPr>
            <a:r>
              <a:rPr lang="en-US" sz="105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법원경매 크롤링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119372" y="3520440"/>
            <a:ext cx="1394460" cy="420624"/>
          </a:xfrm>
          <a:prstGeom prst="roundRect">
            <a:avLst>
              <a:gd name="adj" fmla="val 50000"/>
            </a:avLst>
          </a:prstGeom>
          <a:solidFill>
            <a:srgbClr val="2A3C63"/>
          </a:solidFill>
          <a:ln w="9525">
            <a:solidFill>
              <a:srgbClr val="3D54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9372" y="3520440"/>
            <a:ext cx="13944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  </a:t>
            </a:r>
            <a:pPr algn="ctr" indent="0" marL="0">
              <a:buNone/>
            </a:pPr>
            <a:r>
              <a:rPr lang="en-US" sz="105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온비드 크롤링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78424" y="3520440"/>
            <a:ext cx="1289304" cy="420624"/>
          </a:xfrm>
          <a:prstGeom prst="roundRect">
            <a:avLst>
              <a:gd name="adj" fmla="val 50000"/>
            </a:avLst>
          </a:prstGeom>
          <a:solidFill>
            <a:srgbClr val="2A3C63"/>
          </a:solidFill>
          <a:ln w="9525">
            <a:solidFill>
              <a:srgbClr val="3D54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78424" y="3520440"/>
            <a:ext cx="1289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  </a:t>
            </a:r>
            <a:pPr algn="ctr" indent="0" marL="0">
              <a:buNone/>
            </a:pPr>
            <a:r>
              <a:rPr lang="en-US" sz="105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텔레그램 봇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MODULE 02 · 실습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투자성향 MBTI — 나에게 맞는 전략부터 정한다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0" y="384048"/>
            <a:ext cx="566928" cy="566928"/>
          </a:xfrm>
          <a:prstGeom prst="ellipse">
            <a:avLst/>
          </a:prstGeom>
          <a:solidFill>
            <a:srgbClr val="E2611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373075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629400" y="47548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2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402336" cy="402336"/>
          </a:xfrm>
          <a:prstGeom prst="ellipse">
            <a:avLst/>
          </a:prstGeom>
          <a:solidFill>
            <a:srgbClr val="1C2B4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7035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96696" y="1481328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안정형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194560" y="1682496"/>
            <a:ext cx="777240" cy="0"/>
          </a:xfrm>
          <a:prstGeom prst="line">
            <a:avLst/>
          </a:prstGeom>
          <a:noFill/>
          <a:ln w="19050">
            <a:solidFill>
              <a:srgbClr val="C9BBA4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081528" y="1481328"/>
            <a:ext cx="402336" cy="402336"/>
          </a:xfrm>
          <a:prstGeom prst="ellipse">
            <a:avLst/>
          </a:prstGeom>
          <a:solidFill>
            <a:srgbClr val="E2611F"/>
          </a:solidFill>
          <a:ln/>
        </p:spPr>
      </p:sp>
      <p:sp>
        <p:nvSpPr>
          <p:cNvPr id="12" name="Text 10"/>
          <p:cNvSpPr/>
          <p:nvPr/>
        </p:nvSpPr>
        <p:spPr>
          <a:xfrm>
            <a:off x="3081528" y="147035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75304" y="148132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공격형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2139696"/>
            <a:ext cx="402336" cy="402336"/>
          </a:xfrm>
          <a:prstGeom prst="ellipse">
            <a:avLst/>
          </a:prstGeom>
          <a:solidFill>
            <a:srgbClr val="1C2B4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12872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96696" y="2139696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시세차익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194560" y="2340864"/>
            <a:ext cx="777240" cy="0"/>
          </a:xfrm>
          <a:prstGeom prst="line">
            <a:avLst/>
          </a:prstGeom>
          <a:noFill/>
          <a:ln w="19050">
            <a:solidFill>
              <a:srgbClr val="C9BBA4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081528" y="2139696"/>
            <a:ext cx="402336" cy="402336"/>
          </a:xfrm>
          <a:prstGeom prst="ellipse">
            <a:avLst/>
          </a:prstGeom>
          <a:solidFill>
            <a:srgbClr val="E2611F"/>
          </a:solidFill>
          <a:ln/>
        </p:spPr>
      </p:sp>
      <p:sp>
        <p:nvSpPr>
          <p:cNvPr id="19" name="Text 17"/>
          <p:cNvSpPr/>
          <p:nvPr/>
        </p:nvSpPr>
        <p:spPr>
          <a:xfrm>
            <a:off x="3081528" y="212872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75304" y="213969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현금흐름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2798064"/>
            <a:ext cx="402336" cy="402336"/>
          </a:xfrm>
          <a:prstGeom prst="ellipse">
            <a:avLst/>
          </a:prstGeom>
          <a:solidFill>
            <a:srgbClr val="1C2B4A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278709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96696" y="2798064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직접 손품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194560" y="2999232"/>
            <a:ext cx="777240" cy="0"/>
          </a:xfrm>
          <a:prstGeom prst="line">
            <a:avLst/>
          </a:prstGeom>
          <a:noFill/>
          <a:ln w="19050">
            <a:solidFill>
              <a:srgbClr val="C9BBA4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3081528" y="2798064"/>
            <a:ext cx="402336" cy="402336"/>
          </a:xfrm>
          <a:prstGeom prst="ellipse">
            <a:avLst/>
          </a:prstGeom>
          <a:solidFill>
            <a:srgbClr val="E2611F"/>
          </a:solidFill>
          <a:ln/>
        </p:spPr>
      </p:sp>
      <p:sp>
        <p:nvSpPr>
          <p:cNvPr id="26" name="Text 24"/>
          <p:cNvSpPr/>
          <p:nvPr/>
        </p:nvSpPr>
        <p:spPr>
          <a:xfrm>
            <a:off x="3081528" y="278709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75304" y="279806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자동화 위임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3456432"/>
            <a:ext cx="402336" cy="402336"/>
          </a:xfrm>
          <a:prstGeom prst="ellipse">
            <a:avLst/>
          </a:prstGeom>
          <a:solidFill>
            <a:srgbClr val="1C2B4A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344545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96696" y="3456432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단기 회전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194560" y="3657600"/>
            <a:ext cx="777240" cy="0"/>
          </a:xfrm>
          <a:prstGeom prst="line">
            <a:avLst/>
          </a:prstGeom>
          <a:noFill/>
          <a:ln w="19050">
            <a:solidFill>
              <a:srgbClr val="C9BBA4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3081528" y="3456432"/>
            <a:ext cx="402336" cy="402336"/>
          </a:xfrm>
          <a:prstGeom prst="ellipse">
            <a:avLst/>
          </a:prstGeom>
          <a:solidFill>
            <a:srgbClr val="E2611F"/>
          </a:solidFill>
          <a:ln/>
        </p:spPr>
      </p:sp>
      <p:sp>
        <p:nvSpPr>
          <p:cNvPr id="33" name="Text 31"/>
          <p:cNvSpPr/>
          <p:nvPr/>
        </p:nvSpPr>
        <p:spPr>
          <a:xfrm>
            <a:off x="3081528" y="344545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575304" y="34564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장기 보유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02920" y="4206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4개 축 × 2 = 16가지 투자 유형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0" y="1417320"/>
            <a:ext cx="361188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029200" y="1417320"/>
            <a:ext cx="64008" cy="3017520"/>
          </a:xfrm>
          <a:prstGeom prst="rect">
            <a:avLst/>
          </a:prstGeom>
          <a:solidFill>
            <a:srgbClr val="E2611F"/>
          </a:solidFill>
          <a:ln/>
        </p:spPr>
      </p:sp>
      <p:sp>
        <p:nvSpPr>
          <p:cNvPr id="38" name="Text 36"/>
          <p:cNvSpPr/>
          <p:nvPr/>
        </p:nvSpPr>
        <p:spPr>
          <a:xfrm>
            <a:off x="5230368" y="15727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이번 모듈에서 만드는 것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85232" y="196596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AI에게 12문항 성향 설문 설계시키기</a:t>
            </a:r>
            <a:endParaRPr lang="en-US" sz="1100" dirty="0"/>
          </a:p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응답 → 16유형 자동 판정 로직</a:t>
            </a:r>
            <a:endParaRPr lang="en-US" sz="1100" dirty="0"/>
          </a:p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유형별 추천 전략 매핑 (예: 안정+현금흐름 → 소형 아파트 월세 세팅)</a:t>
            </a:r>
            <a:endParaRPr lang="en-US" sz="1100" dirty="0"/>
          </a:p>
          <a:p>
            <a:pPr marL="101600" indent="-1016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 유형이 이후 모든 실습의 필터가 됩니다 — 검색 조건, 대시보드 지표, 입찰 기준까지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2920" y="4828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부동산 경매 투자 — 패스트캠퍼스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229600" y="4828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MODULE 03 · 실습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법원경매 크롤링 — 막히는 사이트를 뚫는 기술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0" y="384048"/>
            <a:ext cx="566928" cy="566928"/>
          </a:xfrm>
          <a:prstGeom prst="ellipse">
            <a:avLst/>
          </a:prstGeom>
          <a:solidFill>
            <a:srgbClr val="E2611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373075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629400" y="47548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2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courtauction.go.kr의 3중 방어벽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755648"/>
            <a:ext cx="39319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755648"/>
            <a:ext cx="64008" cy="731520"/>
          </a:xfrm>
          <a:prstGeom prst="rect">
            <a:avLst/>
          </a:prstGeom>
          <a:solidFill>
            <a:srgbClr val="E2611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828800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IP 차단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920240" y="182880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requests 직접 호출 → “비정상 접속으로 차단” 즉시 반환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502920" y="2596896"/>
            <a:ext cx="39319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596896"/>
            <a:ext cx="64008" cy="731520"/>
          </a:xfrm>
          <a:prstGeom prst="rect">
            <a:avLst/>
          </a:prstGeom>
          <a:solidFill>
            <a:srgbClr val="E2611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70048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헤드리스 감지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920240" y="267004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WebSquare가 자동화 브라우저를 감지하면 화면 렌더링 중단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502920" y="3438144"/>
            <a:ext cx="39319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438144"/>
            <a:ext cx="64008" cy="731520"/>
          </a:xfrm>
          <a:prstGeom prst="rect">
            <a:avLst/>
          </a:prstGeom>
          <a:solidFill>
            <a:srgbClr val="E2611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511296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파이프라인 지연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920240" y="3511296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API 응답이 클릭 1~2번 뒤에 도착 — 순진한 대기는 빈 데이터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5029200" y="1371600"/>
            <a:ext cx="36118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0" y="1371600"/>
            <a:ext cx="64008" cy="274320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22" name="Text 20"/>
          <p:cNvSpPr/>
          <p:nvPr/>
        </p:nvSpPr>
        <p:spPr>
          <a:xfrm>
            <a:off x="5230368" y="15179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해결 스택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85232" y="187452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Playwright 스텔스 모드 — 자동화 흔적 숨기기</a:t>
            </a:r>
            <a:endParaRPr lang="en-US" sz="1080" dirty="0"/>
          </a:p>
          <a:p>
            <a:pPr marL="101600" indent="-101600"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 브라우저 컨텍스트로 세션 유지</a:t>
            </a:r>
            <a:endParaRPr lang="en-US" sz="1080" dirty="0"/>
          </a:p>
          <a:p>
            <a:pPr marL="101600" indent="-101600"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지연 응답을 기다리는 파이프라인 플러시 패턴</a:t>
            </a:r>
            <a:endParaRPr lang="en-US" sz="1080" dirty="0"/>
          </a:p>
          <a:p>
            <a:pPr marL="101600" indent="-101600">
              <a:spcAft>
                <a:spcPts val="900"/>
              </a:spcAft>
              <a:buSzPct val="100000"/>
              <a:buChar char="•"/>
            </a:pPr>
            <a:r>
              <a:rPr lang="en-US" sz="108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결과: 사건번호 · 소재지 · 감정가 · 최저가 · 유찰횟수 → CSV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029200" y="4224528"/>
            <a:ext cx="3611880" cy="47548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25" name="Text 23"/>
          <p:cNvSpPr/>
          <p:nvPr/>
        </p:nvSpPr>
        <p:spPr>
          <a:xfrm>
            <a:off x="5138928" y="422452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7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실전 검증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의정부지법 아파트 유찰 1회+ 43건 자동 수집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4828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부동산 경매 투자 — 패스트캠퍼스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229600" y="4828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MODULE 04 · 실습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온비드 크롤링 — 경매의 반대편 시장까지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0" y="384048"/>
            <a:ext cx="566928" cy="566928"/>
          </a:xfrm>
          <a:prstGeom prst="ellipse">
            <a:avLst/>
          </a:prstGeom>
          <a:solidFill>
            <a:srgbClr val="E2611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373075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629400" y="47548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2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25603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371600"/>
            <a:ext cx="64008" cy="210312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9" name="Shape 7"/>
          <p:cNvSpPr/>
          <p:nvPr/>
        </p:nvSpPr>
        <p:spPr>
          <a:xfrm>
            <a:off x="704088" y="1554480"/>
            <a:ext cx="475488" cy="475488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715" y="1678107"/>
            <a:ext cx="228234" cy="22823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2130552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공매 물건의 성격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85800" y="245059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캠코가 파는 압류재산·국공유재산. 세금 체납 물건은 권리관계가 상대적으로 단순한 경우가 많습니다.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3291840" y="1371600"/>
            <a:ext cx="25603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91840" y="1371600"/>
            <a:ext cx="64008" cy="2103120"/>
          </a:xfrm>
          <a:prstGeom prst="rect">
            <a:avLst/>
          </a:prstGeom>
          <a:solidFill>
            <a:srgbClr val="E2611F"/>
          </a:solidFill>
          <a:ln/>
        </p:spPr>
      </p:sp>
      <p:sp>
        <p:nvSpPr>
          <p:cNvPr id="15" name="Shape 12"/>
          <p:cNvSpPr/>
          <p:nvPr/>
        </p:nvSpPr>
        <p:spPr>
          <a:xfrm>
            <a:off x="3493008" y="1554480"/>
            <a:ext cx="475488" cy="475488"/>
          </a:xfrm>
          <a:prstGeom prst="ellipse">
            <a:avLst/>
          </a:prstGeom>
          <a:solidFill>
            <a:srgbClr val="E2611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635" y="1678107"/>
            <a:ext cx="228234" cy="22823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74720" y="2130552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직장인 친화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3474720" y="245059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100% 온라인 전자입찰 — 법원에 갈 필요가 없습니다. 평일 낮 시간을 낼 수 없는 투자자의 주력 시장.</a:t>
            </a:r>
            <a:endParaRPr lang="en-US" sz="980" dirty="0"/>
          </a:p>
        </p:txBody>
      </p:sp>
      <p:sp>
        <p:nvSpPr>
          <p:cNvPr id="19" name="Shape 15"/>
          <p:cNvSpPr/>
          <p:nvPr/>
        </p:nvSpPr>
        <p:spPr>
          <a:xfrm>
            <a:off x="6080760" y="1371600"/>
            <a:ext cx="25603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80760" y="1371600"/>
            <a:ext cx="64008" cy="210312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21" name="Shape 17"/>
          <p:cNvSpPr/>
          <p:nvPr/>
        </p:nvSpPr>
        <p:spPr>
          <a:xfrm>
            <a:off x="6281928" y="1554480"/>
            <a:ext cx="475488" cy="475488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555" y="1678107"/>
            <a:ext cx="228234" cy="22823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63640" y="2130552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정보의 비대칭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6263640" y="245059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경매 대비 참여자·분석 서비스가 적습니다. 데이터를 직접 모으는 사람에게 유리한 시장.</a:t>
            </a:r>
            <a:endParaRPr lang="en-US" sz="980" dirty="0"/>
          </a:p>
        </p:txBody>
      </p:sp>
      <p:sp>
        <p:nvSpPr>
          <p:cNvPr id="25" name="Shape 20"/>
          <p:cNvSpPr/>
          <p:nvPr/>
        </p:nvSpPr>
        <p:spPr>
          <a:xfrm>
            <a:off x="502920" y="3794760"/>
            <a:ext cx="2377440" cy="45720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26" name="Text 21"/>
          <p:cNvSpPr/>
          <p:nvPr/>
        </p:nvSpPr>
        <p:spPr>
          <a:xfrm>
            <a:off x="502920" y="3794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법원경매 CSV (M03)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3108960" y="3794760"/>
            <a:ext cx="2377440" cy="457200"/>
          </a:xfrm>
          <a:prstGeom prst="rect">
            <a:avLst/>
          </a:prstGeom>
          <a:solidFill>
            <a:srgbClr val="E2611F"/>
          </a:solidFill>
          <a:ln/>
        </p:spPr>
      </p:sp>
      <p:sp>
        <p:nvSpPr>
          <p:cNvPr id="28" name="Text 23"/>
          <p:cNvSpPr/>
          <p:nvPr/>
        </p:nvSpPr>
        <p:spPr>
          <a:xfrm>
            <a:off x="3108960" y="3794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온비드 CSV (M04)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 rot="5400000">
            <a:off x="5696712" y="3922776"/>
            <a:ext cx="201168" cy="201168"/>
          </a:xfrm>
          <a:prstGeom prst="triangle">
            <a:avLst/>
          </a:prstGeom>
          <a:solidFill>
            <a:srgbClr val="E2611F"/>
          </a:solidFill>
          <a:ln/>
        </p:spPr>
      </p:sp>
      <p:sp>
        <p:nvSpPr>
          <p:cNvPr id="30" name="Shape 25"/>
          <p:cNvSpPr/>
          <p:nvPr/>
        </p:nvSpPr>
        <p:spPr>
          <a:xfrm>
            <a:off x="6080760" y="3794760"/>
            <a:ext cx="2560320" cy="457200"/>
          </a:xfrm>
          <a:prstGeom prst="rect">
            <a:avLst/>
          </a:prstGeom>
          <a:solidFill>
            <a:srgbClr val="3D5480"/>
          </a:solidFill>
          <a:ln/>
        </p:spPr>
      </p:sp>
      <p:sp>
        <p:nvSpPr>
          <p:cNvPr id="31" name="Text 26"/>
          <p:cNvSpPr/>
          <p:nvPr/>
        </p:nvSpPr>
        <p:spPr>
          <a:xfrm>
            <a:off x="6080760" y="3794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스키마 통일 → 통합 물건 DB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502920" y="4828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부동산 경매 투자 — 패스트캠퍼스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8229600" y="4828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MODULE 05 · 실습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텔레그램으로 받아보고, 채팅으로 명령한다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0" y="384048"/>
            <a:ext cx="566928" cy="566928"/>
          </a:xfrm>
          <a:prstGeom prst="ellipse">
            <a:avLst/>
          </a:prstGeom>
          <a:solidFill>
            <a:srgbClr val="E2611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373075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629400" y="47548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2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402336" cy="402336"/>
          </a:xfrm>
          <a:prstGeom prst="ellipse">
            <a:avLst/>
          </a:prstGeom>
          <a:solidFill>
            <a:srgbClr val="1C2B4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7035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51560" y="1453896"/>
            <a:ext cx="35661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1453896"/>
            <a:ext cx="64008" cy="47548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11" name="Text 9"/>
          <p:cNvSpPr/>
          <p:nvPr/>
        </p:nvSpPr>
        <p:spPr>
          <a:xfrm>
            <a:off x="1252728" y="145389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매일 아침 스케줄러 실행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704088" y="1883664"/>
            <a:ext cx="0" cy="365760"/>
          </a:xfrm>
          <a:prstGeom prst="line">
            <a:avLst/>
          </a:prstGeom>
          <a:noFill/>
          <a:ln w="19050">
            <a:solidFill>
              <a:srgbClr val="C9BBA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249424"/>
            <a:ext cx="402336" cy="402336"/>
          </a:xfrm>
          <a:prstGeom prst="ellipse">
            <a:avLst/>
          </a:prstGeom>
          <a:solidFill>
            <a:srgbClr val="1C2B4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23845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221992"/>
            <a:ext cx="35661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221992"/>
            <a:ext cx="64008" cy="47548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17" name="Text 15"/>
          <p:cNvSpPr/>
          <p:nvPr/>
        </p:nvSpPr>
        <p:spPr>
          <a:xfrm>
            <a:off x="1252728" y="222199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크롤러가 신건 수집 · 관심조건 필터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04088" y="2651760"/>
            <a:ext cx="0" cy="365760"/>
          </a:xfrm>
          <a:prstGeom prst="line">
            <a:avLst/>
          </a:prstGeom>
          <a:noFill/>
          <a:ln w="19050">
            <a:solidFill>
              <a:srgbClr val="C9BBA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017520"/>
            <a:ext cx="402336" cy="402336"/>
          </a:xfrm>
          <a:prstGeom prst="ellipse">
            <a:avLst/>
          </a:prstGeom>
          <a:solidFill>
            <a:srgbClr val="E2611F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00654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2990088"/>
            <a:ext cx="35661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1560" y="2990088"/>
            <a:ext cx="64008" cy="475488"/>
          </a:xfrm>
          <a:prstGeom prst="rect">
            <a:avLst/>
          </a:prstGeom>
          <a:solidFill>
            <a:srgbClr val="E2611F"/>
          </a:solidFill>
          <a:ln/>
        </p:spPr>
      </p:sp>
      <p:sp>
        <p:nvSpPr>
          <p:cNvPr id="23" name="Text 21"/>
          <p:cNvSpPr/>
          <p:nvPr/>
        </p:nvSpPr>
        <p:spPr>
          <a:xfrm>
            <a:off x="1252728" y="299008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텔레그램으로 요약 발송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704088" y="3419856"/>
            <a:ext cx="0" cy="365760"/>
          </a:xfrm>
          <a:prstGeom prst="line">
            <a:avLst/>
          </a:prstGeom>
          <a:noFill/>
          <a:ln w="19050">
            <a:solidFill>
              <a:srgbClr val="C9BBA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785616"/>
            <a:ext cx="402336" cy="402336"/>
          </a:xfrm>
          <a:prstGeom prst="ellipse">
            <a:avLst/>
          </a:prstGeom>
          <a:solidFill>
            <a:srgbClr val="E2611F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77464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51560" y="3758184"/>
            <a:ext cx="35661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51560" y="3758184"/>
            <a:ext cx="64008" cy="475488"/>
          </a:xfrm>
          <a:prstGeom prst="rect">
            <a:avLst/>
          </a:prstGeom>
          <a:solidFill>
            <a:srgbClr val="E2611F"/>
          </a:solidFill>
          <a:ln/>
        </p:spPr>
      </p:sp>
      <p:sp>
        <p:nvSpPr>
          <p:cNvPr id="29" name="Text 27"/>
          <p:cNvSpPr/>
          <p:nvPr/>
        </p:nvSpPr>
        <p:spPr>
          <a:xfrm>
            <a:off x="1252728" y="375818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채팅 명령 → 봇이 크롤러 호출 → 즉시 회신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4937760" y="1371600"/>
            <a:ext cx="3703320" cy="3246120"/>
          </a:xfrm>
          <a:prstGeom prst="rect">
            <a:avLst/>
          </a:prstGeom>
          <a:solidFill>
            <a:srgbClr val="EDF1F7"/>
          </a:solidFill>
          <a:ln w="12700">
            <a:solidFill>
              <a:srgbClr val="D5DC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1371600"/>
            <a:ext cx="3703320" cy="365760"/>
          </a:xfrm>
          <a:prstGeom prst="rect">
            <a:avLst/>
          </a:prstGeom>
          <a:solidFill>
            <a:srgbClr val="1C2B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Telegram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120640" y="187452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7800" y="193852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오늘의 신건 3건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의정부 아파트 · 유찰1회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최저가 3.2억 (감정가 4.6억)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2026타경1234 외 2건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35040" y="306324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DE3D2"/>
          </a:solidFill>
          <a:ln/>
        </p:spPr>
      </p:sp>
      <p:sp>
        <p:nvSpPr>
          <p:cNvPr id="35" name="Text 33"/>
          <p:cNvSpPr/>
          <p:nvPr/>
        </p:nvSpPr>
        <p:spPr>
          <a:xfrm>
            <a:off x="6144768" y="30632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“양주시 다세대 유찰 2회 검색해줘”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120640" y="3703320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57800" y="3703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검색 중… 7건 발견, CSV 첨부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" y="4828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부동산 경매 투자 — 패스트캠퍼스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229600" y="4828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611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0515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3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시장 분석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23317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물건을 보기 전에 시장을 봅니다 — 실거래 데이터로 단지와 지역을 해부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903720" y="1234440"/>
            <a:ext cx="1600200" cy="1600200"/>
          </a:xfrm>
          <a:prstGeom prst="ellipse">
            <a:avLst/>
          </a:prstGeom>
          <a:solidFill>
            <a:srgbClr val="2A3C63"/>
          </a:solidFill>
          <a:ln w="12700">
            <a:solidFill>
              <a:srgbClr val="3D548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056" y="1636776"/>
            <a:ext cx="795528" cy="7955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3520440"/>
            <a:ext cx="1604772" cy="420624"/>
          </a:xfrm>
          <a:prstGeom prst="roundRect">
            <a:avLst>
              <a:gd name="adj" fmla="val 50000"/>
            </a:avLst>
          </a:prstGeom>
          <a:solidFill>
            <a:srgbClr val="2A3C63"/>
          </a:solidFill>
          <a:ln w="9525">
            <a:solidFill>
              <a:srgbClr val="3D54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3520440"/>
            <a:ext cx="16047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  </a:t>
            </a:r>
            <a:pPr algn="ctr" indent="0" marL="0">
              <a:buNone/>
            </a:pPr>
            <a:r>
              <a:rPr lang="en-US" sz="105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실거래가 단지분석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455164" y="3520440"/>
            <a:ext cx="1394460" cy="420624"/>
          </a:xfrm>
          <a:prstGeom prst="roundRect">
            <a:avLst>
              <a:gd name="adj" fmla="val 50000"/>
            </a:avLst>
          </a:prstGeom>
          <a:solidFill>
            <a:srgbClr val="2A3C63"/>
          </a:solidFill>
          <a:ln w="9525">
            <a:solidFill>
              <a:srgbClr val="3D54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55164" y="3520440"/>
            <a:ext cx="13944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07  </a:t>
            </a:r>
            <a:pPr algn="ctr" indent="0" marL="0">
              <a:buNone/>
            </a:pPr>
            <a:r>
              <a:rPr lang="en-US" sz="105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지역분석 실습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MODULE 06 · 실습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실거래가 API로 아파트 단지 분해하기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0" y="384048"/>
            <a:ext cx="566928" cy="566928"/>
          </a:xfrm>
          <a:prstGeom prst="ellipse">
            <a:avLst/>
          </a:prstGeom>
          <a:solidFill>
            <a:srgbClr val="E2611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373075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629400" y="47548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소스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국토교통부 실거래가 공개시스템 API — 매매 + 전월세</a:t>
            </a:r>
            <a:endParaRPr lang="en-US" sz="108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공동주택 기본정보 — 세대수 · 동수 · 준공연도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이번 모듈에서 계산하는 것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97180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평당가 추이 — 저점 대비 얼마나 올랐나</a:t>
            </a:r>
            <a:endParaRPr lang="en-US" sz="108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동별 · 층별 · 평형별 가격 차이</a:t>
            </a:r>
            <a:endParaRPr lang="en-US" sz="108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전세가율과 갭 — 실투자금 계산</a:t>
            </a:r>
            <a:endParaRPr lang="en-US" sz="108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감정가 vs 실거래 시세 교차 검증 (M03 연계)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892040" y="1371600"/>
            <a:ext cx="374904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graphicFrame>
        <p:nvGraphicFramePr>
          <p:cNvPr id="12" name="Chart 0" descr=""/>
          <p:cNvGraphicFramePr/>
          <p:nvPr/>
        </p:nvGraphicFramePr>
        <p:xfrm>
          <a:off x="5029200" y="1572768"/>
          <a:ext cx="347472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5029200" y="4114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예시: ○○단지 84㎡ 평당가 추이 — 실습에서 직접 뽑아봅니다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02920" y="4828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부동산 경매 투자 — 패스트캠퍼스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229600" y="4828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MODULE 07 · 실습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지역분석 — 어디를 볼지 데이터로 정한다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0" y="384048"/>
            <a:ext cx="566928" cy="566928"/>
          </a:xfrm>
          <a:prstGeom prst="ellipse">
            <a:avLst/>
          </a:prstGeom>
          <a:solidFill>
            <a:srgbClr val="E2611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373075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07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629400" y="47548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3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393192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371600"/>
            <a:ext cx="64008" cy="1170432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536192"/>
            <a:ext cx="457200" cy="457200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655064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1499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공급 물량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280160" y="1828800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입주 예정 물량이 몰리는 시점 = 전세가 하락 · 가격 조정 가능성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4709160" y="1371600"/>
            <a:ext cx="393192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09160" y="1371600"/>
            <a:ext cx="64008" cy="1170432"/>
          </a:xfrm>
          <a:prstGeom prst="rect">
            <a:avLst/>
          </a:prstGeom>
          <a:solidFill>
            <a:srgbClr val="E2611F"/>
          </a:solidFill>
          <a:ln/>
        </p:spPr>
      </p:sp>
      <p:sp>
        <p:nvSpPr>
          <p:cNvPr id="15" name="Shape 12"/>
          <p:cNvSpPr/>
          <p:nvPr/>
        </p:nvSpPr>
        <p:spPr>
          <a:xfrm>
            <a:off x="4892040" y="1536192"/>
            <a:ext cx="457200" cy="457200"/>
          </a:xfrm>
          <a:prstGeom prst="ellipse">
            <a:avLst/>
          </a:prstGeom>
          <a:solidFill>
            <a:srgbClr val="E2611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655064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86400" y="1499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미분양 추이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5486400" y="1828800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증가세면 경고, 감소 전환이면 바닥 신호로 해석되는 대표 지표</a:t>
            </a:r>
            <a:endParaRPr lang="en-US" sz="980" dirty="0"/>
          </a:p>
        </p:txBody>
      </p:sp>
      <p:sp>
        <p:nvSpPr>
          <p:cNvPr id="19" name="Shape 15"/>
          <p:cNvSpPr/>
          <p:nvPr/>
        </p:nvSpPr>
        <p:spPr>
          <a:xfrm>
            <a:off x="502920" y="2770632"/>
            <a:ext cx="393192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02920" y="2770632"/>
            <a:ext cx="64008" cy="1170432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21" name="Shape 17"/>
          <p:cNvSpPr/>
          <p:nvPr/>
        </p:nvSpPr>
        <p:spPr>
          <a:xfrm>
            <a:off x="685800" y="2935224"/>
            <a:ext cx="457200" cy="457200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054096"/>
            <a:ext cx="219456" cy="2194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280160" y="28986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인구 · 세대 이동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1280160" y="3227832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전입이 꾸준한 지역인가 — 수요의 방향을 보여주는 근본 지표</a:t>
            </a:r>
            <a:endParaRPr lang="en-US" sz="980" dirty="0"/>
          </a:p>
        </p:txBody>
      </p:sp>
      <p:sp>
        <p:nvSpPr>
          <p:cNvPr id="25" name="Shape 20"/>
          <p:cNvSpPr/>
          <p:nvPr/>
        </p:nvSpPr>
        <p:spPr>
          <a:xfrm>
            <a:off x="4709160" y="2770632"/>
            <a:ext cx="393192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709160" y="2770632"/>
            <a:ext cx="64008" cy="1170432"/>
          </a:xfrm>
          <a:prstGeom prst="rect">
            <a:avLst/>
          </a:prstGeom>
          <a:solidFill>
            <a:srgbClr val="E2611F"/>
          </a:solidFill>
          <a:ln/>
        </p:spPr>
      </p:sp>
      <p:sp>
        <p:nvSpPr>
          <p:cNvPr id="27" name="Shape 22"/>
          <p:cNvSpPr/>
          <p:nvPr/>
        </p:nvSpPr>
        <p:spPr>
          <a:xfrm>
            <a:off x="4892040" y="2935224"/>
            <a:ext cx="457200" cy="457200"/>
          </a:xfrm>
          <a:prstGeom prst="ellipse">
            <a:avLst/>
          </a:prstGeom>
          <a:solidFill>
            <a:srgbClr val="E2611F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3054096"/>
            <a:ext cx="219456" cy="21945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86400" y="28986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거래량 · 매물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5486400" y="3227832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거래량 급증 + 매물 감소 조합은 시장 전환의 조기 신호</a:t>
            </a:r>
            <a:endParaRPr lang="en-US" sz="980" dirty="0"/>
          </a:p>
        </p:txBody>
      </p:sp>
      <p:sp>
        <p:nvSpPr>
          <p:cNvPr id="31" name="Shape 25"/>
          <p:cNvSpPr/>
          <p:nvPr/>
        </p:nvSpPr>
        <p:spPr>
          <a:xfrm>
            <a:off x="502920" y="4041648"/>
            <a:ext cx="8138160" cy="512064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2" name="Text 26"/>
          <p:cNvSpPr/>
          <p:nvPr/>
        </p:nvSpPr>
        <p:spPr>
          <a:xfrm>
            <a:off x="731520" y="4041648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7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실습 산출물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후보 지역 3곳 비교 대시보드 → 내 성향(M02)과 결합해 타깃 지역 확정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502920" y="4828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부동산 경매 투자 — 패스트캠퍼스</a:t>
            </a:r>
            <a:endParaRPr lang="en-US" sz="850" dirty="0"/>
          </a:p>
        </p:txBody>
      </p:sp>
      <p:sp>
        <p:nvSpPr>
          <p:cNvPr id="34" name="Text 28"/>
          <p:cNvSpPr/>
          <p:nvPr/>
        </p:nvSpPr>
        <p:spPr>
          <a:xfrm>
            <a:off x="8229600" y="4828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611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0515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4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에이전트 · 투자 판단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23317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문서를 읽고, 입지를 채점하고, 수익률을 계산하는 나만의 에이전트를 만듭니다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903720" y="1234440"/>
            <a:ext cx="1600200" cy="1600200"/>
          </a:xfrm>
          <a:prstGeom prst="ellipse">
            <a:avLst/>
          </a:prstGeom>
          <a:solidFill>
            <a:srgbClr val="2A3C63"/>
          </a:solidFill>
          <a:ln w="12700">
            <a:solidFill>
              <a:srgbClr val="3D548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056" y="1636776"/>
            <a:ext cx="795528" cy="7955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3520440"/>
            <a:ext cx="1078992" cy="420624"/>
          </a:xfrm>
          <a:prstGeom prst="roundRect">
            <a:avLst>
              <a:gd name="adj" fmla="val 50000"/>
            </a:avLst>
          </a:prstGeom>
          <a:solidFill>
            <a:srgbClr val="2A3C63"/>
          </a:solidFill>
          <a:ln w="9525">
            <a:solidFill>
              <a:srgbClr val="3D54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352044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08  </a:t>
            </a:r>
            <a:pPr algn="ctr" indent="0" marL="0">
              <a:buNone/>
            </a:pPr>
            <a:r>
              <a:rPr lang="en-US" sz="105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권리분석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929384" y="3520440"/>
            <a:ext cx="1078992" cy="420624"/>
          </a:xfrm>
          <a:prstGeom prst="roundRect">
            <a:avLst>
              <a:gd name="adj" fmla="val 50000"/>
            </a:avLst>
          </a:prstGeom>
          <a:solidFill>
            <a:srgbClr val="2A3C63"/>
          </a:solidFill>
          <a:ln w="9525">
            <a:solidFill>
              <a:srgbClr val="3D54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29384" y="352044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09  </a:t>
            </a:r>
            <a:pPr algn="ctr" indent="0" marL="0">
              <a:buNone/>
            </a:pPr>
            <a:r>
              <a:rPr lang="en-US" sz="105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입지분석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172968" y="3520440"/>
            <a:ext cx="1394460" cy="420624"/>
          </a:xfrm>
          <a:prstGeom prst="roundRect">
            <a:avLst>
              <a:gd name="adj" fmla="val 50000"/>
            </a:avLst>
          </a:prstGeom>
          <a:solidFill>
            <a:srgbClr val="2A3C63"/>
          </a:solidFill>
          <a:ln w="9525">
            <a:solidFill>
              <a:srgbClr val="3D54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172968" y="3520440"/>
            <a:ext cx="13944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  </a:t>
            </a:r>
            <a:pPr algn="ctr" indent="0" marL="0">
              <a:buNone/>
            </a:pPr>
            <a:r>
              <a:rPr lang="en-US" sz="105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수익률 분석기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32020" y="3520440"/>
            <a:ext cx="1394460" cy="420624"/>
          </a:xfrm>
          <a:prstGeom prst="roundRect">
            <a:avLst>
              <a:gd name="adj" fmla="val 50000"/>
            </a:avLst>
          </a:prstGeom>
          <a:solidFill>
            <a:srgbClr val="2A3C63"/>
          </a:solidFill>
          <a:ln w="9525">
            <a:solidFill>
              <a:srgbClr val="3D54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32020" y="3520440"/>
            <a:ext cx="13944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  </a:t>
            </a:r>
            <a:pPr algn="ctr" indent="0" marL="0">
              <a:buNone/>
            </a:pPr>
            <a:r>
              <a:rPr lang="en-US" sz="105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재개발 분석기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MODULE 08 · 실습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권리분석 에이전트 — 문서를 읽고 인수금을 계산한다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0" y="384048"/>
            <a:ext cx="566928" cy="566928"/>
          </a:xfrm>
          <a:prstGeom prst="ellipse">
            <a:avLst/>
          </a:prstGeom>
          <a:solidFill>
            <a:srgbClr val="E2611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373075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08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629400" y="47548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4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7830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417320"/>
            <a:ext cx="64008" cy="169164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1563624"/>
            <a:ext cx="347472" cy="347472"/>
          </a:xfrm>
          <a:prstGeom prst="ellipse">
            <a:avLst/>
          </a:prstGeom>
          <a:solidFill>
            <a:srgbClr val="1C2B4A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155265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06424" y="1563624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문서 수집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67512" y="2075688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매각물건명세서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등기부 · 현황조사서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 rot="5400000">
            <a:off x="2345436" y="2171700"/>
            <a:ext cx="201168" cy="201168"/>
          </a:xfrm>
          <a:prstGeom prst="triangle">
            <a:avLst/>
          </a:prstGeom>
          <a:solidFill>
            <a:srgbClr val="E2611F"/>
          </a:solidFill>
          <a:ln/>
        </p:spPr>
      </p:sp>
      <p:sp>
        <p:nvSpPr>
          <p:cNvPr id="14" name="Shape 12"/>
          <p:cNvSpPr/>
          <p:nvPr/>
        </p:nvSpPr>
        <p:spPr>
          <a:xfrm>
            <a:off x="2606040" y="1417320"/>
            <a:ext cx="17830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06040" y="1417320"/>
            <a:ext cx="64008" cy="169164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16" name="Shape 14"/>
          <p:cNvSpPr/>
          <p:nvPr/>
        </p:nvSpPr>
        <p:spPr>
          <a:xfrm>
            <a:off x="2770632" y="1563624"/>
            <a:ext cx="347472" cy="347472"/>
          </a:xfrm>
          <a:prstGeom prst="ellipse">
            <a:avLst/>
          </a:prstGeom>
          <a:solidFill>
            <a:srgbClr val="1C2B4A"/>
          </a:solidFill>
          <a:ln/>
        </p:spPr>
      </p:sp>
      <p:sp>
        <p:nvSpPr>
          <p:cNvPr id="17" name="Text 15"/>
          <p:cNvSpPr/>
          <p:nvPr/>
        </p:nvSpPr>
        <p:spPr>
          <a:xfrm>
            <a:off x="2770632" y="155265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9544" y="1563624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임차인 구조화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770632" y="2075688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성명 · 보증금 · 전입일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확정일자 · 배당요구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 rot="5400000">
            <a:off x="4448556" y="2171700"/>
            <a:ext cx="201168" cy="201168"/>
          </a:xfrm>
          <a:prstGeom prst="triangle">
            <a:avLst/>
          </a:prstGeom>
          <a:solidFill>
            <a:srgbClr val="E2611F"/>
          </a:solidFill>
          <a:ln/>
        </p:spPr>
      </p:sp>
      <p:sp>
        <p:nvSpPr>
          <p:cNvPr id="21" name="Shape 19"/>
          <p:cNvSpPr/>
          <p:nvPr/>
        </p:nvSpPr>
        <p:spPr>
          <a:xfrm>
            <a:off x="4709160" y="1417320"/>
            <a:ext cx="17830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1417320"/>
            <a:ext cx="64008" cy="169164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23" name="Shape 21"/>
          <p:cNvSpPr/>
          <p:nvPr/>
        </p:nvSpPr>
        <p:spPr>
          <a:xfrm>
            <a:off x="4873752" y="1563624"/>
            <a:ext cx="347472" cy="347472"/>
          </a:xfrm>
          <a:prstGeom prst="ellipse">
            <a:avLst/>
          </a:prstGeom>
          <a:solidFill>
            <a:srgbClr val="1C2B4A"/>
          </a:solidFill>
          <a:ln/>
        </p:spPr>
      </p:sp>
      <p:sp>
        <p:nvSpPr>
          <p:cNvPr id="24" name="Text 22"/>
          <p:cNvSpPr/>
          <p:nvPr/>
        </p:nvSpPr>
        <p:spPr>
          <a:xfrm>
            <a:off x="4873752" y="155265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12664" y="1563624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대항력 판정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73752" y="2075688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말소기준권리와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전입일 자동 비교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 rot="5400000">
            <a:off x="6551676" y="2171700"/>
            <a:ext cx="201168" cy="201168"/>
          </a:xfrm>
          <a:prstGeom prst="triangle">
            <a:avLst/>
          </a:prstGeom>
          <a:solidFill>
            <a:srgbClr val="E2611F"/>
          </a:solidFill>
          <a:ln/>
        </p:spPr>
      </p:sp>
      <p:sp>
        <p:nvSpPr>
          <p:cNvPr id="28" name="Shape 26"/>
          <p:cNvSpPr/>
          <p:nvPr/>
        </p:nvSpPr>
        <p:spPr>
          <a:xfrm>
            <a:off x="6812280" y="1417320"/>
            <a:ext cx="17830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12280" y="1417320"/>
            <a:ext cx="64008" cy="169164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0" name="Shape 28"/>
          <p:cNvSpPr/>
          <p:nvPr/>
        </p:nvSpPr>
        <p:spPr>
          <a:xfrm>
            <a:off x="6976872" y="1563624"/>
            <a:ext cx="347472" cy="347472"/>
          </a:xfrm>
          <a:prstGeom prst="ellipse">
            <a:avLst/>
          </a:prstGeom>
          <a:solidFill>
            <a:srgbClr val="1C2B4A"/>
          </a:solidFill>
          <a:ln/>
        </p:spPr>
      </p:sp>
      <p:sp>
        <p:nvSpPr>
          <p:cNvPr id="31" name="Text 29"/>
          <p:cNvSpPr/>
          <p:nvPr/>
        </p:nvSpPr>
        <p:spPr>
          <a:xfrm>
            <a:off x="6976872" y="155265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15784" y="1563624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인수금 산출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976872" y="2075688"/>
            <a:ext cx="1472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인수 보증금 합산</a:t>
            </a:r>
            <a:endParaRPr lang="en-US" sz="9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입찰가에 반영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502920" y="3429000"/>
            <a:ext cx="8138160" cy="1005840"/>
          </a:xfrm>
          <a:prstGeom prst="rect">
            <a:avLst/>
          </a:prstGeom>
          <a:solidFill>
            <a:srgbClr val="FDEFE5"/>
          </a:solidFill>
          <a:ln/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3630168"/>
            <a:ext cx="310896" cy="310896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161288" y="3520440"/>
            <a:ext cx="7223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에이전트의 판정은 초안입니다.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모든 판정에 근거(원문 조항 · 지식베이스 항목) 인용을 강제하고, 근거 없는 답은 반려하도록 설계합니다. 특히 배당순서 · 최우선변제는 AI가 자주 틀리는 영역 — 최종 확인은 반드시 사람이 합니다.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502920" y="4828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부동산 경매 투자 — 패스트캠퍼스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8229600" y="4828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MODULE 09 · 실습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입지분석 에이전트 — 발품을 데이터로 보완한다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0" y="384048"/>
            <a:ext cx="566928" cy="566928"/>
          </a:xfrm>
          <a:prstGeom prst="ellipse">
            <a:avLst/>
          </a:prstGeom>
          <a:solidFill>
            <a:srgbClr val="E2611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373075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09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629400" y="47548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4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1883664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371600"/>
            <a:ext cx="64008" cy="178308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1536192"/>
            <a:ext cx="457200" cy="457200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655064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9224" y="210312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학군 · 학원가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49224" y="2404872"/>
            <a:ext cx="1609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배정 학교, 학업성취도, 학원 밀집도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587752" y="1371600"/>
            <a:ext cx="1883664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87752" y="1371600"/>
            <a:ext cx="64008" cy="1783080"/>
          </a:xfrm>
          <a:prstGeom prst="rect">
            <a:avLst/>
          </a:prstGeom>
          <a:solidFill>
            <a:srgbClr val="E2611F"/>
          </a:solidFill>
          <a:ln/>
        </p:spPr>
      </p:sp>
      <p:sp>
        <p:nvSpPr>
          <p:cNvPr id="15" name="Shape 12"/>
          <p:cNvSpPr/>
          <p:nvPr/>
        </p:nvSpPr>
        <p:spPr>
          <a:xfrm>
            <a:off x="2752344" y="1536192"/>
            <a:ext cx="457200" cy="457200"/>
          </a:xfrm>
          <a:prstGeom prst="ellipse">
            <a:avLst/>
          </a:prstGeom>
          <a:solidFill>
            <a:srgbClr val="E2611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216" y="1655064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734056" y="210312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교통 · 직주근접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2734056" y="2404872"/>
            <a:ext cx="1609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역까지 도보거리, 주요 업무지구 통근시간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672584" y="1371600"/>
            <a:ext cx="1883664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672584" y="1371600"/>
            <a:ext cx="64008" cy="178308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21" name="Shape 17"/>
          <p:cNvSpPr/>
          <p:nvPr/>
        </p:nvSpPr>
        <p:spPr>
          <a:xfrm>
            <a:off x="4837176" y="1536192"/>
            <a:ext cx="457200" cy="457200"/>
          </a:xfrm>
          <a:prstGeom prst="ellipse">
            <a:avLst/>
          </a:prstGeom>
          <a:solidFill>
            <a:srgbClr val="1C2B4A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1655064"/>
            <a:ext cx="219456" cy="2194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818888" y="210312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개발 호재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4818888" y="2404872"/>
            <a:ext cx="1609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GTX · 철도 · 정비구역 — 지자체 고시 기반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757416" y="1371600"/>
            <a:ext cx="1883664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757416" y="1371600"/>
            <a:ext cx="64008" cy="1783080"/>
          </a:xfrm>
          <a:prstGeom prst="rect">
            <a:avLst/>
          </a:prstGeom>
          <a:solidFill>
            <a:srgbClr val="E2611F"/>
          </a:solidFill>
          <a:ln/>
        </p:spPr>
      </p:sp>
      <p:sp>
        <p:nvSpPr>
          <p:cNvPr id="27" name="Shape 22"/>
          <p:cNvSpPr/>
          <p:nvPr/>
        </p:nvSpPr>
        <p:spPr>
          <a:xfrm>
            <a:off x="6922008" y="1536192"/>
            <a:ext cx="457200" cy="457200"/>
          </a:xfrm>
          <a:prstGeom prst="ellipse">
            <a:avLst/>
          </a:prstGeom>
          <a:solidFill>
            <a:srgbClr val="E2611F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655064"/>
            <a:ext cx="219456" cy="21945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903720" y="210312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생활 인프라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6903720" y="2404872"/>
            <a:ext cx="1609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마트 · 병원 · 공원 — 지도 API로 반경 집계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502920" y="3401568"/>
            <a:ext cx="51206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502920" y="3401568"/>
            <a:ext cx="64008" cy="105156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3" name="Text 27"/>
          <p:cNvSpPr/>
          <p:nvPr/>
        </p:nvSpPr>
        <p:spPr>
          <a:xfrm>
            <a:off x="704088" y="35112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산출물 — 물건별 입지 스코어카드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704088" y="380390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후보 물건들을 같은 잣대로 채점해 비교표로 — 점수는 비교용이지 정답이 아닙니다. 현장조사 체크리스트와 반드시 병행합니다.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5852160" y="3401568"/>
            <a:ext cx="2788920" cy="105156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6" name="Text 30"/>
          <p:cNvSpPr/>
          <p:nvPr/>
        </p:nvSpPr>
        <p:spPr>
          <a:xfrm>
            <a:off x="6053328" y="34747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B7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예시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○○아파트 입지점수
</a:t>
            </a:r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82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/ 100  (교통 A · 학군 B+)</a:t>
            </a:r>
            <a:endParaRPr lang="en-US" sz="950" dirty="0"/>
          </a:p>
        </p:txBody>
      </p:sp>
      <p:sp>
        <p:nvSpPr>
          <p:cNvPr id="37" name="Text 31"/>
          <p:cNvSpPr/>
          <p:nvPr/>
        </p:nvSpPr>
        <p:spPr>
          <a:xfrm>
            <a:off x="502920" y="4828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부동산 경매 투자 — 패스트캠퍼스</a:t>
            </a:r>
            <a:endParaRPr lang="en-US" sz="850" dirty="0"/>
          </a:p>
        </p:txBody>
      </p:sp>
      <p:sp>
        <p:nvSpPr>
          <p:cNvPr id="38" name="Text 32"/>
          <p:cNvSpPr/>
          <p:nvPr/>
        </p:nvSpPr>
        <p:spPr>
          <a:xfrm>
            <a:off x="8229600" y="4828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MODULE 10 · 실습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수익률 분석기 — 숫자로 입찰가를 정한다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0" y="384048"/>
            <a:ext cx="566928" cy="566928"/>
          </a:xfrm>
          <a:prstGeom prst="ellipse">
            <a:avLst/>
          </a:prstGeom>
          <a:solidFill>
            <a:srgbClr val="E2611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373075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629400" y="47548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4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5074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71600"/>
            <a:ext cx="64008" cy="47548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7160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예상 낙찰가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331720" y="137160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인근 매각사례 · 낙찰가율 통계로 추정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502920" y="1938528"/>
            <a:ext cx="5074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938528"/>
            <a:ext cx="64008" cy="47548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9385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+ 취득 비용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331720" y="193852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취득세 · 법무비 · 명도비 · 수리비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502920" y="2505456"/>
            <a:ext cx="5074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505456"/>
            <a:ext cx="64008" cy="475488"/>
          </a:xfrm>
          <a:prstGeom prst="rect">
            <a:avLst/>
          </a:prstGeom>
          <a:solidFill>
            <a:srgbClr val="E2611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50545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+ 인수금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331720" y="2505456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권리분석(M08)에서 산출한 인수 보증금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502920" y="3072384"/>
            <a:ext cx="5074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072384"/>
            <a:ext cx="64008" cy="47548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07238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= 총 취득원가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331720" y="307238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물건을 갖는 데 드는 진짜 돈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502920" y="3639312"/>
            <a:ext cx="5074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639312"/>
            <a:ext cx="64008" cy="47548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63931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vs 시세 · 임대료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331720" y="363931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실거래(M06) 기준 매도가 · 월세 시나리오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5897880" y="1371600"/>
            <a:ext cx="2743200" cy="2761488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28" name="Text 26"/>
          <p:cNvSpPr/>
          <p:nvPr/>
        </p:nvSpPr>
        <p:spPr>
          <a:xfrm>
            <a:off x="589788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7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ROI · 손익분기가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89788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입찰 상한선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897880" y="254203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을 먼저 정하고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입찰장에 들어갑니다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897880" y="3429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8FA3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현장의 분위기가 아니라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8FA3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숫자가 손을 들게 하는 것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4828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부동산 경매 투자 — 패스트캠퍼스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229600" y="4828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MODULE 11 · 실습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재개발 투자분석기 — 비례율과 분담금을 자동 계산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0" y="384048"/>
            <a:ext cx="566928" cy="566928"/>
          </a:xfrm>
          <a:prstGeom prst="ellipse">
            <a:avLst/>
          </a:prstGeom>
          <a:solidFill>
            <a:srgbClr val="E2611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373075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629400" y="47548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 4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50749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371600"/>
            <a:ext cx="64008" cy="786384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63040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비례율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737360" y="145389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(종후자산 − 총사업비) ÷ 종전자산 × 100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737360" y="1783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100% 이상이면 사업성 양호 신호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502920" y="2267712"/>
            <a:ext cx="50749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267712"/>
            <a:ext cx="64008" cy="786384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359152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권리가액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737360" y="23500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종전자산 평가액 × 비례율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737360" y="26791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 물건이 새 아파트에서 인정받는 가치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502920" y="3163824"/>
            <a:ext cx="507492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163824"/>
            <a:ext cx="64008" cy="786384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255264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분담금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737360" y="32461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조합원 분양가 − 권리가액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737360" y="35753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추가로 내야 하는 돈 — 총투자금의 핵심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897880" y="1371600"/>
            <a:ext cx="274320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897880" y="1371600"/>
            <a:ext cx="64008" cy="2651760"/>
          </a:xfrm>
          <a:prstGeom prst="rect">
            <a:avLst/>
          </a:prstGeom>
          <a:solidFill>
            <a:srgbClr val="E2611F"/>
          </a:solidFill>
          <a:ln/>
        </p:spPr>
      </p:sp>
      <p:sp>
        <p:nvSpPr>
          <p:cNvPr id="24" name="Text 22"/>
          <p:cNvSpPr/>
          <p:nvPr/>
        </p:nvSpPr>
        <p:spPr>
          <a:xfrm>
            <a:off x="6099048" y="15179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자동 체크 항목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144768" y="187452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물딱지 위험 — 권리산정기준일 이후 지분 쪼개기 여부</a:t>
            </a:r>
            <a:endParaRPr lang="en-US" sz="1000" dirty="0"/>
          </a:p>
          <a:p>
            <a:pPr marL="101600" indent="-101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현금청산 대상 여부 — 분양신청 기한 확인</a:t>
            </a:r>
            <a:endParaRPr lang="en-US" sz="1000" dirty="0"/>
          </a:p>
          <a:p>
            <a:pPr marL="101600" indent="-101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추가분담금 시나리오 — 공사비 상승 ±20% 스트레스 테스트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41605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확정 전 비례율은 추정치입니다 — 관리처분 인가 전 숫자를 그대로 믿지 않도록 분석기가 경고를 띄웁니다.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4828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부동산 경매 투자 — 패스트캠퍼스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229600" y="4828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모든 에이전트의 토대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AI를 믿게 만드는 장치 — 지식베이스와 검증 루프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나만의 지식창고 (11개 폴더)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755648"/>
            <a:ext cx="11658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CF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755648"/>
            <a:ext cx="11658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정책 · 규제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796796" y="1755648"/>
            <a:ext cx="5943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CF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96796" y="175564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세금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19172" y="1755648"/>
            <a:ext cx="5943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CF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9172" y="175564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법령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1548" y="1755648"/>
            <a:ext cx="5943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CF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1548" y="175564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판례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212848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CF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21284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실무 Q&amp;A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82496" y="2212848"/>
            <a:ext cx="9372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CF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82496" y="2212848"/>
            <a:ext cx="937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체크리스트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7772" y="2212848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CF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7772" y="221284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공식 데이터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2670048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CF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67004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개발계획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453896" y="2670048"/>
            <a:ext cx="1165860" cy="365760"/>
          </a:xfrm>
          <a:prstGeom prst="roundRect">
            <a:avLst>
              <a:gd name="adj" fmla="val 50000"/>
            </a:avLst>
          </a:prstGeom>
          <a:solidFill>
            <a:srgbClr val="E2611F"/>
          </a:solidFill>
          <a:ln w="9525">
            <a:solidFill>
              <a:srgbClr val="E261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53896" y="2670048"/>
            <a:ext cx="11658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오답노트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7772" y="2670048"/>
            <a:ext cx="9372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CF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7772" y="2670048"/>
            <a:ext cx="937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투자 원칙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3127248"/>
            <a:ext cx="9372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CF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127248"/>
            <a:ext cx="937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변경 이력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2920" y="367588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정책 · 세법은 “언제부터 언제까지” 이력으로 저장 — AI가 한 번 틀린 사례는 오답노트로 남겨 재발을 막습니다.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0" y="1371600"/>
            <a:ext cx="36118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DDD0"/>
            </a:solidFill>
            <a:prstDash val="solid"/>
          </a:ln>
          <a:effectLst>
            <a:outerShdw sx="100000" sy="100000" kx="0" ky="0" algn="bl" rotWithShape="0" blurRad="88900" dist="25400" dir="8100000">
              <a:srgbClr val="1C2B4A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0" y="1371600"/>
            <a:ext cx="64008" cy="310896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0" name="Text 28"/>
          <p:cNvSpPr/>
          <p:nvPr/>
        </p:nvSpPr>
        <p:spPr>
          <a:xfrm>
            <a:off x="5230368" y="15179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답변 전 강제되는 순서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285232" y="1938528"/>
            <a:ext cx="365760" cy="365760"/>
          </a:xfrm>
          <a:prstGeom prst="ellipse">
            <a:avLst/>
          </a:prstGeom>
          <a:solidFill>
            <a:srgbClr val="1C2B4A"/>
          </a:solidFill>
          <a:ln/>
        </p:spPr>
      </p:sp>
      <p:sp>
        <p:nvSpPr>
          <p:cNvPr id="32" name="Text 30"/>
          <p:cNvSpPr/>
          <p:nvPr/>
        </p:nvSpPr>
        <p:spPr>
          <a:xfrm>
            <a:off x="5285232" y="192755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760720" y="19385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질문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68112" y="2304288"/>
            <a:ext cx="0" cy="201168"/>
          </a:xfrm>
          <a:prstGeom prst="line">
            <a:avLst/>
          </a:prstGeom>
          <a:noFill/>
          <a:ln w="19050">
            <a:solidFill>
              <a:srgbClr val="C9BBA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85232" y="2505456"/>
            <a:ext cx="365760" cy="365760"/>
          </a:xfrm>
          <a:prstGeom prst="ellipse">
            <a:avLst/>
          </a:prstGeom>
          <a:solidFill>
            <a:srgbClr val="1C2B4A"/>
          </a:solidFill>
          <a:ln/>
        </p:spPr>
      </p:sp>
      <p:sp>
        <p:nvSpPr>
          <p:cNvPr id="36" name="Text 34"/>
          <p:cNvSpPr/>
          <p:nvPr/>
        </p:nvSpPr>
        <p:spPr>
          <a:xfrm>
            <a:off x="5285232" y="249448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760720" y="25054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지식베이스 검색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468112" y="2871216"/>
            <a:ext cx="0" cy="201168"/>
          </a:xfrm>
          <a:prstGeom prst="line">
            <a:avLst/>
          </a:prstGeom>
          <a:noFill/>
          <a:ln w="19050">
            <a:solidFill>
              <a:srgbClr val="C9BBA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285232" y="3072384"/>
            <a:ext cx="365760" cy="365760"/>
          </a:xfrm>
          <a:prstGeom prst="ellipse">
            <a:avLst/>
          </a:prstGeom>
          <a:solidFill>
            <a:srgbClr val="1C2B4A"/>
          </a:solidFill>
          <a:ln/>
        </p:spPr>
      </p:sp>
      <p:sp>
        <p:nvSpPr>
          <p:cNvPr id="40" name="Text 38"/>
          <p:cNvSpPr/>
          <p:nvPr/>
        </p:nvSpPr>
        <p:spPr>
          <a:xfrm>
            <a:off x="5285232" y="3061411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760720" y="30723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근거 인용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468112" y="3438144"/>
            <a:ext cx="0" cy="201168"/>
          </a:xfrm>
          <a:prstGeom prst="line">
            <a:avLst/>
          </a:prstGeom>
          <a:noFill/>
          <a:ln w="19050">
            <a:solidFill>
              <a:srgbClr val="C9BBA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285232" y="3639312"/>
            <a:ext cx="365760" cy="365760"/>
          </a:xfrm>
          <a:prstGeom prst="ellipse">
            <a:avLst/>
          </a:prstGeom>
          <a:solidFill>
            <a:srgbClr val="E2611F"/>
          </a:solidFill>
          <a:ln/>
        </p:spPr>
      </p:sp>
      <p:sp>
        <p:nvSpPr>
          <p:cNvPr id="44" name="Text 42"/>
          <p:cNvSpPr/>
          <p:nvPr/>
        </p:nvSpPr>
        <p:spPr>
          <a:xfrm>
            <a:off x="5285232" y="362833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760720" y="3639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답변 (출처 · 갱신일 표시)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230368" y="413308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근거를 찾지 못한 답변은 반려합니다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02920" y="4828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부동산 경매 투자 — 패스트캠퍼스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229600" y="48280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6A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26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2611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611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마치며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데이터를 모으는 사람보다
</a:t>
            </a:r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해석하는 사람</a:t>
            </a:r>
            <a:pPr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강합니다.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260604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AI를 잘 쓰는 사람보다
</a:t>
            </a:r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B78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검증할 줄 아는 사람</a:t>
            </a:r>
            <a:pPr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C9D6E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이깁니다.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39776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11개 모듈이 끝나면 크롤러 몇 개가 아니라, 스스로 유지·보수되는 나만의 AI 투자 운영체계가 남습니다.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부동산 경매 투자</dc:title>
  <dc:subject>PptxGenJS Presentation</dc:subject>
  <dc:creator>FASTCAMPUS</dc:creator>
  <cp:lastModifiedBy>FASTCAMPUS</cp:lastModifiedBy>
  <cp:revision>1</cp:revision>
  <dcterms:created xsi:type="dcterms:W3CDTF">2026-07-08T14:50:41Z</dcterms:created>
  <dcterms:modified xsi:type="dcterms:W3CDTF">2026-07-08T14:50:41Z</dcterms:modified>
</cp:coreProperties>
</file>