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평당가(만원)</c:v>
                </c:pt>
              </c:strCache>
            </c:strRef>
          </c:tx>
          <c:spPr>
            <a:solidFill>
              <a:srgbClr val="E2611F"/>
            </a:solidFill>
            <a:ln w="31750" cap="flat">
              <a:solidFill>
                <a:srgbClr val="E261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2611F"/>
              </a:solidFill>
              <a:ln w="9525" cap="flat">
                <a:solidFill>
                  <a:srgbClr val="E261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24.1Q</c:v>
                  </c:pt>
                  <c:pt idx="1">
                    <c:v>24.3Q</c:v>
                  </c:pt>
                  <c:pt idx="2">
                    <c:v>25.1Q</c:v>
                  </c:pt>
                  <c:pt idx="3">
                    <c:v>25.3Q</c:v>
                  </c:pt>
                  <c:pt idx="4">
                    <c:v>26.1Q</c:v>
                  </c:pt>
                  <c:pt idx="5">
                    <c:v>26.2Q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1480</c:v>
                </c:pt>
                <c:pt idx="1">
                  <c:v>1445</c:v>
                </c:pt>
                <c:pt idx="2">
                  <c:v>1510</c:v>
                </c:pt>
                <c:pt idx="3">
                  <c:v>1585</c:v>
                </c:pt>
                <c:pt idx="4">
                  <c:v>1660</c:v>
                </c:pt>
                <c:pt idx="5">
                  <c:v>1695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A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FE8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A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1051560"/>
            <a:ext cx="2377440" cy="237744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645920"/>
            <a:ext cx="1188720" cy="1188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623560" y="2788920"/>
            <a:ext cx="1188720" cy="118872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C9D6EE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81528"/>
            <a:ext cx="603504" cy="60350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2920" y="5669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FASTCAMPUS ONLINE · 2026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502920" y="137160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</a:t>
            </a:r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와 함께하는</a:t>
            </a:r>
            <a:endParaRPr lang="en-US" sz="4000" dirty="0"/>
          </a:p>
        </p:txBody>
      </p:sp>
      <p:sp>
        <p:nvSpPr>
          <p:cNvPr id="8" name="Text 4"/>
          <p:cNvSpPr/>
          <p:nvPr/>
        </p:nvSpPr>
        <p:spPr>
          <a:xfrm>
            <a:off x="502920" y="205740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부동산 경매 투자</a:t>
            </a:r>
            <a:endParaRPr lang="en-US" sz="4400" dirty="0"/>
          </a:p>
        </p:txBody>
      </p:sp>
      <p:sp>
        <p:nvSpPr>
          <p:cNvPr id="9" name="Text 5"/>
          <p:cNvSpPr/>
          <p:nvPr/>
        </p:nvSpPr>
        <p:spPr>
          <a:xfrm>
            <a:off x="502920" y="30632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수집부터 투자 판단까지,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AI 투자 시스템을 직접 만듭니다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02920" y="411480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02920" y="411480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11개 모듈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1517904" y="4114800"/>
            <a:ext cx="772668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517904" y="4114800"/>
            <a:ext cx="7726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실습 중심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2436876" y="4114800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436876" y="411480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Python · Claude Code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796028" y="4114800"/>
            <a:ext cx="2020824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796028" y="4114800"/>
            <a:ext cx="2020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크롤링 → 분석 → AI 에이전트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강의 철학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데이터를 보여주고, 판단은 사람이 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30352" cy="530352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980" y="1710660"/>
            <a:ext cx="254569" cy="25456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차이는 해석에서 난다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8580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경매·실거래·공공데이터는 이미 다 공개돼 있습니다. 데이터를 연결하고 해석해 의사결정으로 잇는 능력이 진짜 경쟁력입니다.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9184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91840" y="137160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2" name="Shape 9"/>
          <p:cNvSpPr/>
          <p:nvPr/>
        </p:nvSpPr>
        <p:spPr>
          <a:xfrm>
            <a:off x="3493008" y="1572768"/>
            <a:ext cx="530352" cy="530352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900" y="1710660"/>
            <a:ext cx="254569" cy="25456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7472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조수다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347472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권리분석·코딩·요약, AI마다 잘하는 일이 다릅니다. 적재적소에 쓰되 답은 반드시 검증합니다. 큰돈이 오가는 분야일수록 더욱.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8076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08076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8" name="Shape 14"/>
          <p:cNvSpPr/>
          <p:nvPr/>
        </p:nvSpPr>
        <p:spPr>
          <a:xfrm>
            <a:off x="6281928" y="1572768"/>
            <a:ext cx="530352" cy="530352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820" y="1710660"/>
            <a:ext cx="254569" cy="25456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6364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만들기보다 유지보수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626364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API가 바뀌고 정책이 바뀝니다. 한 번 만들고 끝이 아니라, 변화를 감시하고 스스로 갱신되는 시스템을 만듭니다.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02920" y="3977640"/>
            <a:ext cx="8138160" cy="56692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3" name="Text 18"/>
          <p:cNvSpPr/>
          <p:nvPr/>
        </p:nvSpPr>
        <p:spPr>
          <a:xfrm>
            <a:off x="502920" y="3977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“AI를 잘 쓰는 사람보다, </a:t>
            </a:r>
            <a:pPr algn="ctr" indent="0" marL="0">
              <a:buNone/>
            </a:pPr>
            <a:r>
              <a:rPr lang="en-US" sz="13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검증할 줄 아는 사람</a:t>
            </a:r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더 좋은 투자자가 됩니다.”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강의의 목표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AI 투자 운영체계(OS)를 만든다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427" y="1906707"/>
            <a:ext cx="228234" cy="22823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1051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9" name="Text 6"/>
          <p:cNvSpPr/>
          <p:nvPr/>
        </p:nvSpPr>
        <p:spPr>
          <a:xfrm>
            <a:off x="181051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6751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수집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6751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· 온비드 크롤러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API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 rot="5400000">
            <a:off x="234543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260604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60604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278892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2547" y="1906707"/>
            <a:ext cx="228234" cy="22823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391363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18" name="Text 14"/>
          <p:cNvSpPr/>
          <p:nvPr/>
        </p:nvSpPr>
        <p:spPr>
          <a:xfrm>
            <a:off x="391363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277063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 기준으로 해석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277063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성향별 대시보드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 · 단지 분석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 rot="5400000">
            <a:off x="444855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2" name="Shape 18"/>
          <p:cNvSpPr/>
          <p:nvPr/>
        </p:nvSpPr>
        <p:spPr>
          <a:xfrm>
            <a:off x="470916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70916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Shape 20"/>
          <p:cNvSpPr/>
          <p:nvPr/>
        </p:nvSpPr>
        <p:spPr>
          <a:xfrm>
            <a:off x="489204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5667" y="1906707"/>
            <a:ext cx="228234" cy="228234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01675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27" name="Text 22"/>
          <p:cNvSpPr/>
          <p:nvPr/>
        </p:nvSpPr>
        <p:spPr>
          <a:xfrm>
            <a:off x="601675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487375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교차 검증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487375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· 입지분석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 + 지식베이스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 rot="5400000">
            <a:off x="655167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31" name="Shape 26"/>
          <p:cNvSpPr/>
          <p:nvPr/>
        </p:nvSpPr>
        <p:spPr>
          <a:xfrm>
            <a:off x="681228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6812280" y="1600200"/>
            <a:ext cx="64008" cy="19659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3" name="Shape 28"/>
          <p:cNvSpPr/>
          <p:nvPr/>
        </p:nvSpPr>
        <p:spPr>
          <a:xfrm>
            <a:off x="6995160" y="17830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787" y="1906707"/>
            <a:ext cx="228234" cy="228234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811987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36" name="Text 30"/>
          <p:cNvSpPr/>
          <p:nvPr/>
        </p:nvSpPr>
        <p:spPr>
          <a:xfrm>
            <a:off x="811987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1"/>
          <p:cNvSpPr/>
          <p:nvPr/>
        </p:nvSpPr>
        <p:spPr>
          <a:xfrm>
            <a:off x="697687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사람의 최종 결정</a:t>
            </a:r>
            <a:endParaRPr lang="en-US" sz="1300" dirty="0"/>
          </a:p>
        </p:txBody>
      </p:sp>
      <p:sp>
        <p:nvSpPr>
          <p:cNvPr id="38" name="Text 32"/>
          <p:cNvSpPr/>
          <p:nvPr/>
        </p:nvSpPr>
        <p:spPr>
          <a:xfrm>
            <a:off x="697687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시뮬레이션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 투자 원칙</a:t>
            </a:r>
            <a:endParaRPr lang="en-US" sz="950" dirty="0"/>
          </a:p>
        </p:txBody>
      </p:sp>
      <p:sp>
        <p:nvSpPr>
          <p:cNvPr id="39" name="Text 33"/>
          <p:cNvSpPr/>
          <p:nvPr/>
        </p:nvSpPr>
        <p:spPr>
          <a:xfrm>
            <a:off x="502920" y="3977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데이터라도 질문이 다르면 대시보드가 달라집니다 — 갭투자자, 경매 투자자, 실거주자의 화면은 서로 달라야 합니다.</a:t>
            </a:r>
            <a:endParaRPr lang="en-US" sz="1150" dirty="0"/>
          </a:p>
        </p:txBody>
      </p:sp>
      <p:sp>
        <p:nvSpPr>
          <p:cNvPr id="40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1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커리큘럼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4개 파트 · 11개 모듈 한눈에 보기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기초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0120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지식 · 용어 · 절차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587752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87752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 자동화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2587752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79192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44952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587752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79192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044952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587752" y="3374136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79192" y="3374136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044952" y="3374136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587752" y="3941064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79192" y="39410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044952" y="3941064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 봇 알림·명령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72584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72584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분석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4672584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64024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129784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단지분석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72584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64024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129784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실습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57416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757416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 · 판단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6757416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48856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7214616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에이전트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757416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48856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214616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 에이전트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57416" y="3374136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48856" y="3374136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7214616" y="3374136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757416" y="3941064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48856" y="39410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7214616" y="3941064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투자분석기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D6E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E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기초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입찰장에 가기 전에 반드시 알아야 할 지식 — 개념·절차·권리분석·낙찰 이후까지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스토리 · 나오는 이유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496312" y="3520440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96312" y="352044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절차 · 물권 · 배당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306824" y="3520440"/>
            <a:ext cx="1014984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306824" y="3520440"/>
            <a:ext cx="1014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 권리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0" y="3520440"/>
            <a:ext cx="112014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0" y="3520440"/>
            <a:ext cx="11201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문서 · 함정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771132" y="3520440"/>
            <a:ext cx="909828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71132" y="3520440"/>
            <a:ext cx="9098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이후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오프닝 스토리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이야기로 먼저 만나는 경매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박성진은 매형 김한울의 사업자금 대출을 위해 자신의 상가건물을 담보로 내줬다 —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물상보증인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된 것이다. A은행은 이 건물에 근저당권을 설정했다.
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2층엔 인테리어 업체 최영수가 공사비를 못 받은 채 시설을 점유하고 있고, 3층엔 이서연이 근저당보다 먼저 전입신고를 마치고 살고 있다. 사실 이 건물이 선 땅은 몇 해 전 하늘개발(주)에 팔려, 지금은 건물과 땅의 주인이 다르다.
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김한울의 사업이 무너지자 A은행은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임의경매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를, 박성진의 개인채권자 정하연은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 각각 신청했다 — 같은 부동산에 경매가 둘,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이중경매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다. 세무서는 오래 밀린 종합부동산세를 챙기려 벼르고 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788920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630936" y="2907792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769" y="2988625"/>
            <a:ext cx="149230" cy="14923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14984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박성진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014984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소유자 · 물상보증인</a:t>
            </a:r>
            <a:endParaRPr lang="en-US" sz="780" dirty="0"/>
          </a:p>
        </p:txBody>
      </p:sp>
      <p:sp>
        <p:nvSpPr>
          <p:cNvPr id="11" name="Shape 8"/>
          <p:cNvSpPr/>
          <p:nvPr/>
        </p:nvSpPr>
        <p:spPr>
          <a:xfrm>
            <a:off x="2542032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42032" y="2788920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2670048" y="2907792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0881" y="2988625"/>
            <a:ext cx="149230" cy="14923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054096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김한울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054096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주채무자 (사업자금 대출)</a:t>
            </a:r>
            <a:endParaRPr lang="en-US" sz="780" dirty="0"/>
          </a:p>
        </p:txBody>
      </p:sp>
      <p:sp>
        <p:nvSpPr>
          <p:cNvPr id="17" name="Shape 13"/>
          <p:cNvSpPr/>
          <p:nvPr/>
        </p:nvSpPr>
        <p:spPr>
          <a:xfrm>
            <a:off x="4581144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581144" y="2788920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Shape 15"/>
          <p:cNvSpPr/>
          <p:nvPr/>
        </p:nvSpPr>
        <p:spPr>
          <a:xfrm>
            <a:off x="4709160" y="2907792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993" y="2988625"/>
            <a:ext cx="149230" cy="14923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093208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A은행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5093208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근저당권자 · 임의경매</a:t>
            </a:r>
            <a:endParaRPr lang="en-US" sz="780" dirty="0"/>
          </a:p>
        </p:txBody>
      </p:sp>
      <p:sp>
        <p:nvSpPr>
          <p:cNvPr id="23" name="Shape 18"/>
          <p:cNvSpPr/>
          <p:nvPr/>
        </p:nvSpPr>
        <p:spPr>
          <a:xfrm>
            <a:off x="6620256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620256" y="2788920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5" name="Shape 20"/>
          <p:cNvSpPr/>
          <p:nvPr/>
        </p:nvSpPr>
        <p:spPr>
          <a:xfrm>
            <a:off x="6748272" y="2907792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9105" y="2988625"/>
            <a:ext cx="149230" cy="14923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132320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정하연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7132320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개인채권자 · 강제경매</a:t>
            </a:r>
            <a:endParaRPr lang="en-US" sz="780" dirty="0"/>
          </a:p>
        </p:txBody>
      </p:sp>
      <p:sp>
        <p:nvSpPr>
          <p:cNvPr id="29" name="Shape 23"/>
          <p:cNvSpPr/>
          <p:nvPr/>
        </p:nvSpPr>
        <p:spPr>
          <a:xfrm>
            <a:off x="502920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502920" y="3557016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1" name="Shape 25"/>
          <p:cNvSpPr/>
          <p:nvPr/>
        </p:nvSpPr>
        <p:spPr>
          <a:xfrm>
            <a:off x="630936" y="3675888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769" y="3756721"/>
            <a:ext cx="149230" cy="14923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014984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최영수</a:t>
            </a:r>
            <a:endParaRPr lang="en-US" sz="1050" dirty="0"/>
          </a:p>
        </p:txBody>
      </p:sp>
      <p:sp>
        <p:nvSpPr>
          <p:cNvPr id="34" name="Text 27"/>
          <p:cNvSpPr/>
          <p:nvPr/>
        </p:nvSpPr>
        <p:spPr>
          <a:xfrm>
            <a:off x="1014984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점유 중 · 유치권 주장</a:t>
            </a:r>
            <a:endParaRPr lang="en-US" sz="780" dirty="0"/>
          </a:p>
        </p:txBody>
      </p:sp>
      <p:sp>
        <p:nvSpPr>
          <p:cNvPr id="35" name="Shape 28"/>
          <p:cNvSpPr/>
          <p:nvPr/>
        </p:nvSpPr>
        <p:spPr>
          <a:xfrm>
            <a:off x="2542032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2542032" y="3557016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7" name="Shape 30"/>
          <p:cNvSpPr/>
          <p:nvPr/>
        </p:nvSpPr>
        <p:spPr>
          <a:xfrm>
            <a:off x="2670048" y="3675888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0881" y="3756721"/>
            <a:ext cx="149230" cy="14923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3054096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이서연</a:t>
            </a:r>
            <a:endParaRPr lang="en-US" sz="1050" dirty="0"/>
          </a:p>
        </p:txBody>
      </p:sp>
      <p:sp>
        <p:nvSpPr>
          <p:cNvPr id="40" name="Text 32"/>
          <p:cNvSpPr/>
          <p:nvPr/>
        </p:nvSpPr>
        <p:spPr>
          <a:xfrm>
            <a:off x="3054096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</a:t>
            </a:r>
            <a:endParaRPr lang="en-US" sz="780" dirty="0"/>
          </a:p>
        </p:txBody>
      </p:sp>
      <p:sp>
        <p:nvSpPr>
          <p:cNvPr id="41" name="Shape 33"/>
          <p:cNvSpPr/>
          <p:nvPr/>
        </p:nvSpPr>
        <p:spPr>
          <a:xfrm>
            <a:off x="4581144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4581144" y="3557016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3" name="Shape 35"/>
          <p:cNvSpPr/>
          <p:nvPr/>
        </p:nvSpPr>
        <p:spPr>
          <a:xfrm>
            <a:off x="4709160" y="3675888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9993" y="3756721"/>
            <a:ext cx="149230" cy="149230"/>
          </a:xfrm>
          <a:prstGeom prst="rect">
            <a:avLst/>
          </a:prstGeom>
        </p:spPr>
      </p:pic>
      <p:sp>
        <p:nvSpPr>
          <p:cNvPr id="45" name="Text 36"/>
          <p:cNvSpPr/>
          <p:nvPr/>
        </p:nvSpPr>
        <p:spPr>
          <a:xfrm>
            <a:off x="5093208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하늘개발(주)</a:t>
            </a:r>
            <a:endParaRPr lang="en-US" sz="1050" dirty="0"/>
          </a:p>
        </p:txBody>
      </p:sp>
      <p:sp>
        <p:nvSpPr>
          <p:cNvPr id="46" name="Text 37"/>
          <p:cNvSpPr/>
          <p:nvPr/>
        </p:nvSpPr>
        <p:spPr>
          <a:xfrm>
            <a:off x="5093208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 소유자</a:t>
            </a:r>
            <a:endParaRPr lang="en-US" sz="780" dirty="0"/>
          </a:p>
        </p:txBody>
      </p:sp>
      <p:sp>
        <p:nvSpPr>
          <p:cNvPr id="47" name="Shape 38"/>
          <p:cNvSpPr/>
          <p:nvPr/>
        </p:nvSpPr>
        <p:spPr>
          <a:xfrm>
            <a:off x="6620256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8" name="Shape 39"/>
          <p:cNvSpPr/>
          <p:nvPr/>
        </p:nvSpPr>
        <p:spPr>
          <a:xfrm>
            <a:off x="6620256" y="3557016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9" name="Shape 40"/>
          <p:cNvSpPr/>
          <p:nvPr/>
        </p:nvSpPr>
        <p:spPr>
          <a:xfrm>
            <a:off x="6748272" y="3675888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5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29105" y="3756721"/>
            <a:ext cx="149230" cy="149230"/>
          </a:xfrm>
          <a:prstGeom prst="rect">
            <a:avLst/>
          </a:prstGeom>
        </p:spPr>
      </p:pic>
      <p:sp>
        <p:nvSpPr>
          <p:cNvPr id="51" name="Text 41"/>
          <p:cNvSpPr/>
          <p:nvPr/>
        </p:nvSpPr>
        <p:spPr>
          <a:xfrm>
            <a:off x="7132320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세무서</a:t>
            </a:r>
            <a:endParaRPr lang="en-US" sz="1050" dirty="0"/>
          </a:p>
        </p:txBody>
      </p:sp>
      <p:sp>
        <p:nvSpPr>
          <p:cNvPr id="52" name="Text 42"/>
          <p:cNvSpPr/>
          <p:nvPr/>
        </p:nvSpPr>
        <p:spPr>
          <a:xfrm>
            <a:off x="7132320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종부세 체납 · 당해세</a:t>
            </a:r>
            <a:endParaRPr lang="en-US" sz="780" dirty="0"/>
          </a:p>
        </p:txBody>
      </p:sp>
      <p:sp>
        <p:nvSpPr>
          <p:cNvPr id="53" name="Text 43"/>
          <p:cNvSpPr/>
          <p:nvPr/>
        </p:nvSpPr>
        <p:spPr>
          <a:xfrm>
            <a:off x="502920" y="452628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다음 페이지에서, 이 이야기를 두고 함께 생각해볼 질문을 던집니다.</a:t>
            </a:r>
            <a:endParaRPr lang="en-US" sz="1000" dirty="0"/>
          </a:p>
        </p:txBody>
      </p:sp>
      <p:sp>
        <p:nvSpPr>
          <p:cNvPr id="54" name="Text 4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55" name="Text 4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오프닝 스토리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생각해볼 질문들 — 정답은 몰라도 됩니다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17320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40634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69848" y="1325880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A은행(근저당권자) · 정하연(개인채권자) · 세무서(체납 국세) — 이 셋 중 누가 먼저, 얼마나 배당받을까?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1929384"/>
            <a:ext cx="8138160" cy="51206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2020824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00985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" y="1929384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최영수의 유치권은 낙찰자에게 그대로 남을까, 사라질까?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532888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2624328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6133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9848" y="2532888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이서연의 보증금은 낙찰자가 인수해야 할까, 배당으로 끝날까?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136392"/>
            <a:ext cx="8138160" cy="51206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3227832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21685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69848" y="3136392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땅과 건물 주인이 다른 이 건물, 낙찰자는 철거 위험을 떠안을까?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739896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831336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82036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69848" y="3739896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자기 빚도 아닌데, 물상보증인 박성진은 왜 이 모든 걸 떠안게 됐을까?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4398264"/>
            <a:ext cx="8138160" cy="402336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4398264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정답은 몰라도 됩니다  </a:t>
            </a:r>
            <a:pPr indent="0" marL="0"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— 이번 파트가 끝나면, 이 다섯 질문 전부에 스스로 답할 수 있게 됩니다.</a:t>
            </a:r>
            <a:endParaRPr lang="en-US" sz="1030" dirty="0"/>
          </a:p>
        </p:txBody>
      </p:sp>
      <p:sp>
        <p:nvSpPr>
          <p:cNvPr id="26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경매란 무엇인가 — 왜 시세보다 싸게 살 수 있나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빚을 갚지 못한 채무자의 부동산을 법원이 강제로 매각해 채권자에게 나눠주는 절차입니다. 매수자 입장에서는 ‘법원이 여는 공개 할인 시장’입니다.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377440"/>
            <a:ext cx="3977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2377440"/>
            <a:ext cx="64008" cy="60350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4505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강제경매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783080" y="245059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판결문 등 집행권원으로 채권자가 신청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3090672"/>
            <a:ext cx="3977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3090672"/>
            <a:ext cx="64008" cy="60350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163824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임의경매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783080" y="316382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 등 담보권 실행 — 은행 대출 연체가 대표적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39776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싸게 사는 대가 = </a:t>
            </a:r>
            <a:pPr indent="0" marL="0">
              <a:buNone/>
            </a:pPr>
            <a:r>
              <a:rPr lang="en-US" sz="12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권리분석·명도 리스크를 함께 사는 것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83480" y="2057400"/>
            <a:ext cx="1051560" cy="17373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4983480" y="174650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5.0억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834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55080" y="2404872"/>
            <a:ext cx="1051560" cy="1389888"/>
          </a:xfrm>
          <a:prstGeom prst="rect">
            <a:avLst/>
          </a:prstGeom>
          <a:solidFill>
            <a:srgbClr val="4A5E88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09397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4.0억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550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1회 유찰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26680" y="2679192"/>
            <a:ext cx="1051560" cy="11155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1" name="Text 19"/>
          <p:cNvSpPr/>
          <p:nvPr/>
        </p:nvSpPr>
        <p:spPr>
          <a:xfrm>
            <a:off x="7726680" y="236829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3.2억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266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2회 유찰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09160" y="42062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유찰될 때마다 최저가가 20~30%씩 내려갑니다 (법원별 상이)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물건은 왜 시장에 나왔나 — 세 가지 이유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‘경매의 종류’보다 ‘물건이 나오게 된 이유’로 접근하면 훨씬 직관적입니다. 크게 셋으로 나뉩니다.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256032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600200"/>
            <a:ext cx="64008" cy="24231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7647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883664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52728" y="1746504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채권회수형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252728" y="2039112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돈을 못 갚아서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04088" y="2496312"/>
            <a:ext cx="21762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은행·채권자가 담보 잡은 부동산을 팔아 회수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대출금·사채·보증채무·판결채무 미상환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임의경매 · 강제경매</a:t>
            </a:r>
            <a:endParaRPr lang="en-US" sz="930" dirty="0"/>
          </a:p>
        </p:txBody>
      </p:sp>
      <p:sp>
        <p:nvSpPr>
          <p:cNvPr id="12" name="Shape 9"/>
          <p:cNvSpPr/>
          <p:nvPr/>
        </p:nvSpPr>
        <p:spPr>
          <a:xfrm>
            <a:off x="3291840" y="1600200"/>
            <a:ext cx="256032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91840" y="1600200"/>
            <a:ext cx="64008" cy="24231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3474720" y="17647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883664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041648" y="1746504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조세징수형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4041648" y="2039112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세금을 안 내서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3493008" y="2496312"/>
            <a:ext cx="21762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국가·지자체가 체납 세금 걷으려 압류·매각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국세·지방세·건강보험료 등 체납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법원경매보다 공매(온비드)에서 많이</a:t>
            </a:r>
            <a:endParaRPr lang="en-US" sz="930" dirty="0"/>
          </a:p>
        </p:txBody>
      </p:sp>
      <p:sp>
        <p:nvSpPr>
          <p:cNvPr id="19" name="Shape 15"/>
          <p:cNvSpPr/>
          <p:nvPr/>
        </p:nvSpPr>
        <p:spPr>
          <a:xfrm>
            <a:off x="6080760" y="1600200"/>
            <a:ext cx="256032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080760" y="1600200"/>
            <a:ext cx="64008" cy="24231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263640" y="17647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883664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830568" y="1746504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관계정리형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6830568" y="2039112"/>
            <a:ext cx="1664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소유자끼리 못 나눠서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6281928" y="2496312"/>
            <a:ext cx="21762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빚이 아니라 소유관계를 정리하려는 경매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상속·공동투자·이혼 등 지분 분쟁</a:t>
            </a:r>
            <a:endParaRPr lang="en-US" sz="930" dirty="0"/>
          </a:p>
          <a:p>
            <a:pPr marL="88900" indent="-88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공유물분할을 위한 형식적 경매</a:t>
            </a:r>
            <a:endParaRPr lang="en-US" sz="930" dirty="0"/>
          </a:p>
        </p:txBody>
      </p:sp>
      <p:sp>
        <p:nvSpPr>
          <p:cNvPr id="26" name="Text 21"/>
          <p:cNvSpPr/>
          <p:nvPr/>
        </p:nvSpPr>
        <p:spPr>
          <a:xfrm>
            <a:off x="502920" y="422452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여기에 청산·파산 등 ‘법률상 팔아서 정리하는’ 기타정리형까지 더하면 4분류가 됩니다.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vs 공매(온비드) — 두 개의 시장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30175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910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344168" y="1874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courtauction.go.kr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58952" y="22860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민사집행법에 따라 법원이 진행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부동산 물건이 풍부 (아파트·다세대·토지)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관할 법원 현장 기일입찰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권리분석·명도가 수익의 핵심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3017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910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 · 온비드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5550408" y="1874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onbid.co.kr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4965192" y="22860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캠코(한국자산관리공사) 운영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압류재산 · 국공유재산 · 수탁재산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온라인 전자입찰 — 직장인 친화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대비 경쟁 정보가 적어 기회 여지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45262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강의에서는 둘 다 크롤링합니다 — 모듈 03(법원경매) · 04(온비드)에서 하나의 물건 DB로 통합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절차 — 매각기일을 경계로 주인공이 바뀐다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25296"/>
            <a:ext cx="8138160" cy="310896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25296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 前  </a:t>
            </a:r>
            <a:pPr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채권자와 법원이 절차를 만든다 — 입찰자는 지켜보는 단계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8" name="Shape 6"/>
          <p:cNvSpPr/>
          <p:nvPr/>
        </p:nvSpPr>
        <p:spPr>
          <a:xfrm>
            <a:off x="630936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96696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경매신청 · 개시결정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630936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채권자 신청 → 법원 압류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 rot="5400000">
            <a:off x="2414016" y="2020824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3" name="Shape 11"/>
          <p:cNvSpPr/>
          <p:nvPr/>
        </p:nvSpPr>
        <p:spPr>
          <a:xfrm>
            <a:off x="2587752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587752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5" name="Shape 13"/>
          <p:cNvSpPr/>
          <p:nvPr/>
        </p:nvSpPr>
        <p:spPr>
          <a:xfrm>
            <a:off x="2715768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6" name="Text 14"/>
          <p:cNvSpPr/>
          <p:nvPr/>
        </p:nvSpPr>
        <p:spPr>
          <a:xfrm>
            <a:off x="2715768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081528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배당요구종기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2715768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기한 지정·공고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 rot="5400000">
            <a:off x="4498848" y="2020824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0" name="Shape 18"/>
          <p:cNvSpPr/>
          <p:nvPr/>
        </p:nvSpPr>
        <p:spPr>
          <a:xfrm>
            <a:off x="4672584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72584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0600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3" name="Text 21"/>
          <p:cNvSpPr/>
          <p:nvPr/>
        </p:nvSpPr>
        <p:spPr>
          <a:xfrm>
            <a:off x="4800600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66360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 · 현황조사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4800600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집행관·감정인 조사</a:t>
            </a:r>
            <a:endParaRPr lang="en-US" sz="830" dirty="0"/>
          </a:p>
        </p:txBody>
      </p:sp>
      <p:sp>
        <p:nvSpPr>
          <p:cNvPr id="26" name="Shape 24"/>
          <p:cNvSpPr/>
          <p:nvPr/>
        </p:nvSpPr>
        <p:spPr>
          <a:xfrm rot="5400000">
            <a:off x="6583680" y="2020824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7" name="Shape 25"/>
          <p:cNvSpPr/>
          <p:nvPr/>
        </p:nvSpPr>
        <p:spPr>
          <a:xfrm>
            <a:off x="6757416" y="1627632"/>
            <a:ext cx="1883664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57416" y="1627632"/>
            <a:ext cx="64008" cy="9326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9" name="Shape 27"/>
          <p:cNvSpPr/>
          <p:nvPr/>
        </p:nvSpPr>
        <p:spPr>
          <a:xfrm>
            <a:off x="6885432" y="1746504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0" name="Text 28"/>
          <p:cNvSpPr/>
          <p:nvPr/>
        </p:nvSpPr>
        <p:spPr>
          <a:xfrm>
            <a:off x="6885432" y="173553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251192" y="1737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매각공고 · 서류비치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6885432" y="2176272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3대 서류 공개(준비 시작)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502920" y="2798064"/>
            <a:ext cx="8138160" cy="310896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4" name="Text 32"/>
          <p:cNvSpPr/>
          <p:nvPr/>
        </p:nvSpPr>
        <p:spPr>
          <a:xfrm>
            <a:off x="685800" y="2798064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 後  </a:t>
            </a:r>
            <a:pPr indent="0" marL="0">
              <a:buNone/>
            </a:pPr>
            <a:r>
              <a:rPr lang="en-US" sz="1050" dirty="0">
                <a:solidFill>
                  <a:srgbClr val="FDE3D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입찰자와 법원이 움직인다 — 여기서부터가 투자자의 시간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02920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02920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7" name="Shape 35"/>
          <p:cNvSpPr/>
          <p:nvPr/>
        </p:nvSpPr>
        <p:spPr>
          <a:xfrm>
            <a:off x="630936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38" name="Text 36"/>
          <p:cNvSpPr/>
          <p:nvPr/>
        </p:nvSpPr>
        <p:spPr>
          <a:xfrm>
            <a:off x="630936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96696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· 개찰(매각기일)</a:t>
            </a:r>
            <a:endParaRPr lang="en-US" sz="980" dirty="0"/>
          </a:p>
        </p:txBody>
      </p:sp>
      <p:sp>
        <p:nvSpPr>
          <p:cNvPr id="40" name="Text 38"/>
          <p:cNvSpPr/>
          <p:nvPr/>
        </p:nvSpPr>
        <p:spPr>
          <a:xfrm>
            <a:off x="630936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 입찰 → 최고가 결정</a:t>
            </a:r>
            <a:endParaRPr lang="en-US" sz="830" dirty="0"/>
          </a:p>
        </p:txBody>
      </p:sp>
      <p:sp>
        <p:nvSpPr>
          <p:cNvPr id="41" name="Shape 39"/>
          <p:cNvSpPr/>
          <p:nvPr/>
        </p:nvSpPr>
        <p:spPr>
          <a:xfrm rot="5400000">
            <a:off x="2414016" y="3593592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2" name="Shape 40"/>
          <p:cNvSpPr/>
          <p:nvPr/>
        </p:nvSpPr>
        <p:spPr>
          <a:xfrm>
            <a:off x="2587752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2587752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4" name="Shape 42"/>
          <p:cNvSpPr/>
          <p:nvPr/>
        </p:nvSpPr>
        <p:spPr>
          <a:xfrm>
            <a:off x="2715768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45" name="Text 43"/>
          <p:cNvSpPr/>
          <p:nvPr/>
        </p:nvSpPr>
        <p:spPr>
          <a:xfrm>
            <a:off x="2715768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3081528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매각허가 · 잔금납부</a:t>
            </a:r>
            <a:endParaRPr lang="en-US" sz="980" dirty="0"/>
          </a:p>
        </p:txBody>
      </p:sp>
      <p:sp>
        <p:nvSpPr>
          <p:cNvPr id="47" name="Text 45"/>
          <p:cNvSpPr/>
          <p:nvPr/>
        </p:nvSpPr>
        <p:spPr>
          <a:xfrm>
            <a:off x="2715768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 대금 완납 → 소유권</a:t>
            </a:r>
            <a:endParaRPr lang="en-US" sz="830" dirty="0"/>
          </a:p>
        </p:txBody>
      </p:sp>
      <p:sp>
        <p:nvSpPr>
          <p:cNvPr id="48" name="Shape 46"/>
          <p:cNvSpPr/>
          <p:nvPr/>
        </p:nvSpPr>
        <p:spPr>
          <a:xfrm rot="5400000">
            <a:off x="4498848" y="3593592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9" name="Shape 47"/>
          <p:cNvSpPr/>
          <p:nvPr/>
        </p:nvSpPr>
        <p:spPr>
          <a:xfrm>
            <a:off x="4672584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672584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0600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2" name="Text 50"/>
          <p:cNvSpPr/>
          <p:nvPr/>
        </p:nvSpPr>
        <p:spPr>
          <a:xfrm>
            <a:off x="4800600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166360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</a:t>
            </a:r>
            <a:endParaRPr lang="en-US" sz="980" dirty="0"/>
          </a:p>
        </p:txBody>
      </p:sp>
      <p:sp>
        <p:nvSpPr>
          <p:cNvPr id="54" name="Text 52"/>
          <p:cNvSpPr/>
          <p:nvPr/>
        </p:nvSpPr>
        <p:spPr>
          <a:xfrm>
            <a:off x="4800600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순위대로 분배</a:t>
            </a:r>
            <a:endParaRPr lang="en-US" sz="830" dirty="0"/>
          </a:p>
        </p:txBody>
      </p:sp>
      <p:sp>
        <p:nvSpPr>
          <p:cNvPr id="55" name="Shape 53"/>
          <p:cNvSpPr/>
          <p:nvPr/>
        </p:nvSpPr>
        <p:spPr>
          <a:xfrm rot="5400000">
            <a:off x="6583680" y="3593592"/>
            <a:ext cx="128016" cy="128016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56" name="Shape 54"/>
          <p:cNvSpPr/>
          <p:nvPr/>
        </p:nvSpPr>
        <p:spPr>
          <a:xfrm>
            <a:off x="6757416" y="3200400"/>
            <a:ext cx="1883664" cy="932688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6757416" y="3200400"/>
            <a:ext cx="64008" cy="9326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58" name="Shape 56"/>
          <p:cNvSpPr/>
          <p:nvPr/>
        </p:nvSpPr>
        <p:spPr>
          <a:xfrm>
            <a:off x="6885432" y="3319272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9" name="Text 57"/>
          <p:cNvSpPr/>
          <p:nvPr/>
        </p:nvSpPr>
        <p:spPr>
          <a:xfrm>
            <a:off x="6885432" y="330829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7251192" y="33101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명도(인도)</a:t>
            </a:r>
            <a:endParaRPr lang="en-US" sz="980" dirty="0"/>
          </a:p>
        </p:txBody>
      </p:sp>
      <p:sp>
        <p:nvSpPr>
          <p:cNvPr id="61" name="Text 59"/>
          <p:cNvSpPr/>
          <p:nvPr/>
        </p:nvSpPr>
        <p:spPr>
          <a:xfrm>
            <a:off x="6885432" y="3749040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 협의·인도명령</a:t>
            </a:r>
            <a:endParaRPr lang="en-US" sz="830" dirty="0"/>
          </a:p>
        </p:txBody>
      </p:sp>
      <p:sp>
        <p:nvSpPr>
          <p:cNvPr id="62" name="Text 60"/>
          <p:cNvSpPr/>
          <p:nvPr/>
        </p:nvSpPr>
        <p:spPr>
          <a:xfrm>
            <a:off x="502920" y="431596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입찰자가 본격적으로 움직이는 건 매각공고(4단계)로 서류가 공개된 뒤부터입니다 — 그 전엔 사건 상태만 지켜보면 됩니다.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사건 상태 용어 — 취하·취소·기각·각하·변경·연기·정지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절차가 끝나는 경우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0292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922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신청한 채권자가 스스로 철회 (채무자가 빚을 갚은 경우 등)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258318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8318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1" name="Text 9"/>
          <p:cNvSpPr/>
          <p:nvPr/>
        </p:nvSpPr>
        <p:spPr>
          <a:xfrm>
            <a:off x="272948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취소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2948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절차 자체에 하자가 있다고 보아 무효화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466344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Text 13"/>
          <p:cNvSpPr/>
          <p:nvPr/>
        </p:nvSpPr>
        <p:spPr>
          <a:xfrm>
            <a:off x="480974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각하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0974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신청 서류·자격 요건 미비 — 내용 검토 없이 반려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6743700" y="1517904"/>
            <a:ext cx="18973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43700" y="1517904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9" name="Text 17"/>
          <p:cNvSpPr/>
          <p:nvPr/>
        </p:nvSpPr>
        <p:spPr>
          <a:xfrm>
            <a:off x="6890004" y="1645920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기각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90004" y="1993392"/>
            <a:ext cx="16230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서류는 갖췄으나 내용을 검토한 결과 이유 없음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02920" y="2852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절차는 계속되지만 잠깐 바뀌는 경우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3145536"/>
            <a:ext cx="25877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3145536"/>
            <a:ext cx="64008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" y="32644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변경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" y="3602736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매각기일·매각조건 등이 조정됨 (절차는 유지)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319272" y="3145536"/>
            <a:ext cx="25877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319272" y="3145536"/>
            <a:ext cx="64008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Text 26"/>
          <p:cNvSpPr/>
          <p:nvPr/>
        </p:nvSpPr>
        <p:spPr>
          <a:xfrm>
            <a:off x="3483864" y="32644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연기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483864" y="3602736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매각기일이 뒤로 미뤄짐 (일정만 지연)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135624" y="3145536"/>
            <a:ext cx="2587752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35624" y="3145536"/>
            <a:ext cx="64008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2" name="Text 30"/>
          <p:cNvSpPr/>
          <p:nvPr/>
        </p:nvSpPr>
        <p:spPr>
          <a:xfrm>
            <a:off x="6300216" y="3264408"/>
            <a:ext cx="2276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정지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300216" y="3602736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이의신청 등으로 절차를 잠시 멈춤 (재개 가능)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427939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각하 vs 기각 — 각하는 서류·자격부터 틀려 읽어보지도 않고 반려, 기각은 내용을 다 본 뒤 이유 없다고 거절.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핵심 용어 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가격을 읽는 4개의 용어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감정평가사가 매긴 기준 가격. 첫 매각기일의 최저가가 됩니다. 시세와 다를 수 있어 그대로 믿으면 안 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최저가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회차에 입찰할 수 있는 최소 금액. 유찰될 때마다 20~30%씩 낮아집니다.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98648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유찰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입찰자가 아무도 없어 다음 회차로 넘어가는 것. 유찰 횟수는 물건의 하자 신호이자 가격 기회의 신호입니다.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98648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낙찰가율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1032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낙찰가 ÷ 감정가. 지역·물건별 경쟁 강도와 시세 흐름을 읽는 핵심 지표 — 입찰가 산정의 출발점입니다.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8138160" cy="402336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62856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78408" y="448056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감정가는 ‘정답’이 아닙니다 — 실거래가(모듈 06)와 반드시 교차 확인합니다.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기초 개념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vs 채권 — 권리분석은 결국 이 구분이다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(物權)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344168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적히는, 누구에게나 주장하는 권리</a:t>
            </a:r>
            <a:endParaRPr lang="en-US" sz="93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전세권 · 지상권 · 유치권 등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등기사항증명서에 전부 공시됨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설정 순서대로 순위배당 (등기 빠른 순)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말소기준권리를 만드는 재료</a:t>
            </a:r>
            <a:endParaRPr lang="en-US" sz="103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 (債權)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5550408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특정 상대방에게만 주장하는 권리</a:t>
            </a:r>
            <a:endParaRPr lang="en-US" sz="93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임차보증금반환채권 · 대여금채권 등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나타나지 않음 — 숨은 위험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원칙적으로 순위 없이 안분배당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예외: 확정일자 임차인은 특별법으로 순위배당 인정</a:t>
            </a:r>
            <a:endParaRPr lang="en-US" sz="103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 = </a:t>
            </a:r>
            <a:pPr indent="0" marL="0">
              <a:buNone/>
            </a:pPr>
            <a:r>
              <a:rPr lang="en-US" sz="11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중 등기부상 가장 먼저 설정된 것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→ 그래서 등기사항증명서를 읽을 줄 알아야 합니다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핵심 개념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 — 등기부의 ‘리셋 버튼’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저당권 · 압류 · 가압류 · 담보가등기 · 선순위전세권 · 경매개시결정등기 중 등기부상 가장 먼저 설정된 것이 말소기준권리입니다. 그보다 늦은 권리는 낙찰로 전부 소멸(말소)되고, 빠른 권리만 낙찰자가 인수합니다.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78638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3856" y="2505456"/>
            <a:ext cx="201168" cy="20116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2019-03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설정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(A은행)</a:t>
            </a:r>
            <a:endParaRPr lang="en-US" sz="830" dirty="0"/>
          </a:p>
        </p:txBody>
      </p:sp>
      <p:sp>
        <p:nvSpPr>
          <p:cNvPr id="9" name="Text 7"/>
          <p:cNvSpPr/>
          <p:nvPr/>
        </p:nvSpPr>
        <p:spPr>
          <a:xfrm>
            <a:off x="45720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32841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265176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2021-06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65176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전입신고</a:t>
            </a:r>
            <a:endParaRPr lang="en-US" sz="830" dirty="0"/>
          </a:p>
        </p:txBody>
      </p:sp>
      <p:sp>
        <p:nvSpPr>
          <p:cNvPr id="13" name="Text 11"/>
          <p:cNvSpPr/>
          <p:nvPr/>
        </p:nvSpPr>
        <p:spPr>
          <a:xfrm>
            <a:off x="265176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없음 → 소멸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52297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2023-01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4632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가압류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(B)</a:t>
            </a:r>
            <a:endParaRPr lang="en-US" sz="830" dirty="0"/>
          </a:p>
        </p:txBody>
      </p:sp>
      <p:sp>
        <p:nvSpPr>
          <p:cNvPr id="17" name="Text 15"/>
          <p:cNvSpPr/>
          <p:nvPr/>
        </p:nvSpPr>
        <p:spPr>
          <a:xfrm>
            <a:off x="484632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소멸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58037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690372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2024-05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90372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경매개시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결정등기</a:t>
            </a:r>
            <a:endParaRPr lang="en-US" sz="830" dirty="0"/>
          </a:p>
        </p:txBody>
      </p:sp>
      <p:sp>
        <p:nvSpPr>
          <p:cNvPr id="21" name="Text 19"/>
          <p:cNvSpPr/>
          <p:nvPr/>
        </p:nvSpPr>
        <p:spPr>
          <a:xfrm>
            <a:off x="690372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소멸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02920" y="324612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3246120"/>
            <a:ext cx="64008" cy="12344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3558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말소기준권리가 될 수 있는 물권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85800" y="366674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저당권 · 압류 · 가압류 · 담보가등기 · 선순위전세권 · 경매개시결정등기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85800" y="406908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30" b="1" i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 </a:t>
            </a:r>
            <a:pPr indent="0" marL="0">
              <a:lnSpc>
                <a:spcPct val="115000"/>
              </a:lnSpc>
              <a:buNone/>
            </a:pPr>
            <a:r>
              <a:rPr lang="en-US" sz="83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‘돈을 빌려주며 담보로 설정한 권리’가 곧 말소기준권리 후보 — 이 중 등기부상 가장 빠른 것이 기준점입니다.</a:t>
            </a:r>
            <a:endParaRPr lang="en-US" sz="830" dirty="0"/>
          </a:p>
        </p:txBody>
      </p:sp>
      <p:sp>
        <p:nvSpPr>
          <p:cNvPr id="27" name="Shape 25"/>
          <p:cNvSpPr/>
          <p:nvPr/>
        </p:nvSpPr>
        <p:spPr>
          <a:xfrm>
            <a:off x="4709160" y="324612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09160" y="3246120"/>
            <a:ext cx="64008" cy="123444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4892040" y="33558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기준과 무관하게 인수되는 권리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946904" y="3666744"/>
            <a:ext cx="35112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유치권 — 점유 + 피담보채권 요건만 갖추면 말소기준권리 선후와 무관하게 낙찰자가 인수</a:t>
            </a:r>
            <a:endParaRPr lang="en-US" sz="930" dirty="0"/>
          </a:p>
          <a:p>
            <a:pPr marL="101600" indent="-101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법정지상권 — 압류 당시 토지·건물이 동일 소유였다면 말소기준권리와 무관하게 성립</a:t>
            </a:r>
            <a:endParaRPr lang="en-US" sz="930" dirty="0"/>
          </a:p>
        </p:txBody>
      </p:sp>
      <p:sp>
        <p:nvSpPr>
          <p:cNvPr id="31" name="Text 29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3대 함정 — 알면 기회, 모르면 손실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715" y="1678107"/>
            <a:ext cx="228234" cy="2282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0759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858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말소기준보다 빠른 대항력 임차인의 보증금은 낙찰자가 인수 — 실투자금이 급증합니다.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6751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11" name="Text 8"/>
          <p:cNvSpPr/>
          <p:nvPr/>
        </p:nvSpPr>
        <p:spPr>
          <a:xfrm>
            <a:off x="75895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전입일 vs 말소기준권리 날짜 비교, 배당요구 여부 확인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329184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9184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349300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635" y="1678107"/>
            <a:ext cx="228234" cy="22823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09651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유치권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34747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공사대금을 못 받았다며 점유 — 명도가 막히고 협상 비용이 듭니다. 허위 신고도 빈번.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45643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19" name="Text 15"/>
          <p:cNvSpPr/>
          <p:nvPr/>
        </p:nvSpPr>
        <p:spPr>
          <a:xfrm>
            <a:off x="354787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경매개시 후 성립한 유치권은 원칙적 대항 불가 (예외 판례 존재)</a:t>
            </a:r>
            <a:endParaRPr lang="en-US" sz="880" dirty="0"/>
          </a:p>
        </p:txBody>
      </p:sp>
      <p:sp>
        <p:nvSpPr>
          <p:cNvPr id="20" name="Shape 16"/>
          <p:cNvSpPr/>
          <p:nvPr/>
        </p:nvSpPr>
        <p:spPr>
          <a:xfrm>
            <a:off x="608076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0807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2" name="Shape 18"/>
          <p:cNvSpPr/>
          <p:nvPr/>
        </p:nvSpPr>
        <p:spPr>
          <a:xfrm>
            <a:off x="628192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555" y="1678107"/>
            <a:ext cx="228234" cy="228234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88543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법정지상권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62636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토지만 낙찰받아도 건물을 철거시킬 수 없는 권리 — 토지 활용가치가 급락합니다.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24535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27" name="Text 22"/>
          <p:cNvSpPr/>
          <p:nvPr/>
        </p:nvSpPr>
        <p:spPr>
          <a:xfrm>
            <a:off x="633679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 효력 발생 시점에 토지·건물이 동일인 소유였는지 확인</a:t>
            </a:r>
            <a:endParaRPr lang="en-US" sz="880" dirty="0"/>
          </a:p>
        </p:txBody>
      </p:sp>
      <p:sp>
        <p:nvSpPr>
          <p:cNvPr id="28" name="Text 23"/>
          <p:cNvSpPr/>
          <p:nvPr/>
        </p:nvSpPr>
        <p:spPr>
          <a:xfrm>
            <a:off x="502920" y="44348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함정은 진입장벽이고, 진입장벽은 준비된 사람에게 수익입니다 — 그래서 권리분석을 배웁니다.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핵심 용어 ②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권리를 읽는 4개의 용어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임차인이 전입신고 + 인도를 마치면 다음 날 0시부터 발생. 말소기준권리보다 빠르면 낙찰자가 보증금을 인수해야 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임대차계약서에 받아두는 날짜 도장. 다음 슬라이드의 배당순서에서 내 보증금의 배당 순번을 결정하는 핵심 증거입니다.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98648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종기 내에 요구해야만 배당받는 권리자가 있습니다. 임차인의 확정일자 우선변제·최우선변제가 대표적.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98648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 vs 소멸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1032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후에도 남는 권리인가? 인수금이 있으면 실투자금이 달라집니다 — 입찰가에서 반드시 차감.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8138160" cy="402336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62856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78408" y="448056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“최우선변제 = 무조건 1순위” 아닙니다 — 배당요구종기 내 배당요구가 요건입니다. (AI도 자주 틀리는 지점)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임차인 권리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· 우선변제권 · 최우선변제권 — 요건과 효력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65506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52728" y="155448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85800" y="208483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요건  </a:t>
            </a:r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 + 전입신고 (다음 날 0시부터)</a:t>
            </a:r>
            <a:endParaRPr lang="en-US" sz="860" dirty="0"/>
          </a:p>
        </p:txBody>
      </p:sp>
      <p:sp>
        <p:nvSpPr>
          <p:cNvPr id="10" name="Text 7"/>
          <p:cNvSpPr/>
          <p:nvPr/>
        </p:nvSpPr>
        <p:spPr>
          <a:xfrm>
            <a:off x="722376" y="2542032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낙찰자에게 임대차를 주장할 권리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선순위면 못 받은 보증금을 낙찰자가 인수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· 배당요구와 무관하게 유지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29184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91840" y="137160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3474720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655064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041648" y="155448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우선변제권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3474720" y="208483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요건  </a:t>
            </a:r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대항요건 + 확정일자</a:t>
            </a:r>
            <a:endParaRPr lang="en-US" sz="860" dirty="0"/>
          </a:p>
        </p:txBody>
      </p:sp>
      <p:sp>
        <p:nvSpPr>
          <p:cNvPr id="17" name="Text 13"/>
          <p:cNvSpPr/>
          <p:nvPr/>
        </p:nvSpPr>
        <p:spPr>
          <a:xfrm>
            <a:off x="3511296" y="2542032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배당에서 후순위보다 먼저 변제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순위는 대항요건일·확정일자 중 늦은 날 기준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배당요구종기까지 배당요구 필요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08076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08076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Shape 16"/>
          <p:cNvSpPr/>
          <p:nvPr/>
        </p:nvSpPr>
        <p:spPr>
          <a:xfrm>
            <a:off x="626364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655064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830568" y="155448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최우선변제권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6263640" y="208483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요건  </a:t>
            </a:r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+ 대항요건 + 배당요구</a:t>
            </a:r>
            <a:endParaRPr lang="en-US" sz="860" dirty="0"/>
          </a:p>
        </p:txBody>
      </p:sp>
      <p:sp>
        <p:nvSpPr>
          <p:cNvPr id="24" name="Text 19"/>
          <p:cNvSpPr/>
          <p:nvPr/>
        </p:nvSpPr>
        <p:spPr>
          <a:xfrm>
            <a:off x="6300216" y="2542032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순위와 무관하게 일정액 최우선 변제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불필요 — 별개의 권리</a:t>
            </a:r>
            <a:endParaRPr lang="en-US" sz="900" dirty="0"/>
          </a:p>
          <a:p>
            <a:pPr marL="88900" indent="-88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기준 이내여야 성립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502920" y="3931920"/>
            <a:ext cx="8138160" cy="62179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Text 21"/>
          <p:cNvSpPr/>
          <p:nvPr/>
        </p:nvSpPr>
        <p:spPr>
          <a:xfrm>
            <a:off x="704088" y="3931920"/>
            <a:ext cx="7772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전입신고와 근저당이 같은 날이면 — 대항력은 다음 날 0시, 근저당은 당일 즉시 효력 → 근저당이 이겨 임차인은 후순위가 됩니다.</a:t>
            </a:r>
            <a:endParaRPr lang="en-US" sz="1030" dirty="0"/>
          </a:p>
        </p:txBody>
      </p:sp>
      <p:sp>
        <p:nvSpPr>
          <p:cNvPr id="27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핵심 개념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배당순서 — 등기부 순위만으론 못 읽는 돈의 흐름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81381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362456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576072" y="135148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78408" y="129844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집행비용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0" y="1298448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감정료 · 송달료 등 절차 진행 비용 — 가장 먼저 공제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502920" y="1764792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6072" y="1828800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576072" y="1817827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78408" y="176479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0" y="1764792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보증금 일부 + 최종 3개월분 임금·퇴직금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502920" y="2231136"/>
            <a:ext cx="8138160" cy="420624"/>
          </a:xfrm>
          <a:prstGeom prst="rect">
            <a:avLst/>
          </a:prstGeom>
          <a:solidFill>
            <a:srgbClr val="FDEFE5"/>
          </a:solidFill>
          <a:ln w="12700">
            <a:solidFill>
              <a:srgbClr val="E261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6072" y="2295144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" y="228417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78408" y="2231136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당해세 ↔ 확정일자·설정일 (경합)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14800" y="2231136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법정기일 vs 확정일자·설정일, 빠른 쪽이 우선 — 근저당권·전세권·확정일자부임차인 포함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02920" y="2697480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6072" y="2761488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576072" y="275051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78408" y="269748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 임금채권 · 일반 조세채권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14800" y="2697480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최우선변제·당해세에서 제외된 나머지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02920" y="3163824"/>
            <a:ext cx="81381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6072" y="3227832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21685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3163824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국민건강보험 등 공과금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0" y="3163824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4대보험료 등 일반 공과금 채권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02920" y="3630168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76072" y="3694176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1" name="Text 29"/>
          <p:cNvSpPr/>
          <p:nvPr/>
        </p:nvSpPr>
        <p:spPr>
          <a:xfrm>
            <a:off x="576072" y="368320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78408" y="363016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일반채권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114800" y="3630168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 없이 채권액 비례로 안분배당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502920" y="4169664"/>
            <a:ext cx="8138160" cy="4114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5" name="Text 33"/>
          <p:cNvSpPr/>
          <p:nvPr/>
        </p:nvSpPr>
        <p:spPr>
          <a:xfrm>
            <a:off x="685800" y="4169664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당해세가 항상 먼저 배당되는 게 아닙니다 — 법정기일과 확정일자·설정일 중 빠른 쪽이 우선하는 경합 관계입니다.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전 반드시 읽는 6대 문서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공개하는 4종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25786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발급받아야 하는 2종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8" name="Shape 6"/>
          <p:cNvSpPr/>
          <p:nvPr/>
        </p:nvSpPr>
        <p:spPr>
          <a:xfrm>
            <a:off x="63093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6524" y="1685788"/>
            <a:ext cx="158008" cy="15800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3093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</a:t>
            </a:r>
            <a:endParaRPr lang="en-US" sz="980" dirty="0"/>
          </a:p>
        </p:txBody>
      </p:sp>
      <p:sp>
        <p:nvSpPr>
          <p:cNvPr id="11" name="Text 8"/>
          <p:cNvSpPr/>
          <p:nvPr/>
        </p:nvSpPr>
        <p:spPr>
          <a:xfrm>
            <a:off x="63093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 현황·인수권리 공식 기재</a:t>
            </a:r>
            <a:endParaRPr lang="en-US" sz="760" dirty="0"/>
          </a:p>
        </p:txBody>
      </p:sp>
      <p:sp>
        <p:nvSpPr>
          <p:cNvPr id="12" name="Shape 9"/>
          <p:cNvSpPr/>
          <p:nvPr/>
        </p:nvSpPr>
        <p:spPr>
          <a:xfrm>
            <a:off x="258318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58318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Shape 11"/>
          <p:cNvSpPr/>
          <p:nvPr/>
        </p:nvSpPr>
        <p:spPr>
          <a:xfrm>
            <a:off x="271119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6784" y="1685788"/>
            <a:ext cx="158008" cy="1580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71119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현황조사서</a:t>
            </a:r>
            <a:endParaRPr lang="en-US" sz="980" dirty="0"/>
          </a:p>
        </p:txBody>
      </p:sp>
      <p:sp>
        <p:nvSpPr>
          <p:cNvPr id="17" name="Text 13"/>
          <p:cNvSpPr/>
          <p:nvPr/>
        </p:nvSpPr>
        <p:spPr>
          <a:xfrm>
            <a:off x="271119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집행관의 현장 조사 기록</a:t>
            </a:r>
            <a:endParaRPr lang="en-US" sz="760" dirty="0"/>
          </a:p>
        </p:txBody>
      </p:sp>
      <p:sp>
        <p:nvSpPr>
          <p:cNvPr id="18" name="Shape 14"/>
          <p:cNvSpPr/>
          <p:nvPr/>
        </p:nvSpPr>
        <p:spPr>
          <a:xfrm>
            <a:off x="466344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66344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Shape 16"/>
          <p:cNvSpPr/>
          <p:nvPr/>
        </p:nvSpPr>
        <p:spPr>
          <a:xfrm>
            <a:off x="479145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7044" y="1685788"/>
            <a:ext cx="158008" cy="15800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79145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감정평가서</a:t>
            </a:r>
            <a:endParaRPr lang="en-US" sz="980" dirty="0"/>
          </a:p>
        </p:txBody>
      </p:sp>
      <p:sp>
        <p:nvSpPr>
          <p:cNvPr id="23" name="Text 18"/>
          <p:cNvSpPr/>
          <p:nvPr/>
        </p:nvSpPr>
        <p:spPr>
          <a:xfrm>
            <a:off x="479145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 산출 근거 자료</a:t>
            </a:r>
            <a:endParaRPr lang="en-US" sz="760" dirty="0"/>
          </a:p>
        </p:txBody>
      </p:sp>
      <p:sp>
        <p:nvSpPr>
          <p:cNvPr id="24" name="Shape 19"/>
          <p:cNvSpPr/>
          <p:nvPr/>
        </p:nvSpPr>
        <p:spPr>
          <a:xfrm>
            <a:off x="674370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74370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Shape 21"/>
          <p:cNvSpPr/>
          <p:nvPr/>
        </p:nvSpPr>
        <p:spPr>
          <a:xfrm>
            <a:off x="687171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7304" y="1685788"/>
            <a:ext cx="158008" cy="1580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87171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문건송달내역</a:t>
            </a:r>
            <a:endParaRPr lang="en-US" sz="980" dirty="0"/>
          </a:p>
        </p:txBody>
      </p:sp>
      <p:sp>
        <p:nvSpPr>
          <p:cNvPr id="29" name="Text 23"/>
          <p:cNvSpPr/>
          <p:nvPr/>
        </p:nvSpPr>
        <p:spPr>
          <a:xfrm>
            <a:off x="687171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이해관계인에 서류가 언제 송달됐는지 기록</a:t>
            </a:r>
            <a:endParaRPr lang="en-US" sz="760" dirty="0"/>
          </a:p>
        </p:txBody>
      </p:sp>
      <p:sp>
        <p:nvSpPr>
          <p:cNvPr id="30" name="Shape 24"/>
          <p:cNvSpPr/>
          <p:nvPr/>
        </p:nvSpPr>
        <p:spPr>
          <a:xfrm>
            <a:off x="502920" y="2852928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502920" y="2852928"/>
            <a:ext cx="64008" cy="1188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2" name="Shape 26"/>
          <p:cNvSpPr/>
          <p:nvPr/>
        </p:nvSpPr>
        <p:spPr>
          <a:xfrm>
            <a:off x="667512" y="299923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3118104"/>
            <a:ext cx="219456" cy="219456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252728" y="300837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등기사항증명서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3794760" y="2999232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E2611F"/>
          </a:solidFill>
          <a:ln/>
        </p:spPr>
      </p:sp>
      <p:sp>
        <p:nvSpPr>
          <p:cNvPr id="36" name="Text 29"/>
          <p:cNvSpPr/>
          <p:nvPr/>
        </p:nvSpPr>
        <p:spPr>
          <a:xfrm>
            <a:off x="3794760" y="299923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667512" y="3456432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인터넷등기소 발급. 모든 물권과 순위가 시간순으로 기록됩니다 — 말소기준권리를 직접 확인하는, 사실상 권리분석의 핵심 문서.</a:t>
            </a:r>
            <a:endParaRPr lang="en-US" sz="930" dirty="0"/>
          </a:p>
        </p:txBody>
      </p:sp>
      <p:sp>
        <p:nvSpPr>
          <p:cNvPr id="38" name="Shape 31"/>
          <p:cNvSpPr/>
          <p:nvPr/>
        </p:nvSpPr>
        <p:spPr>
          <a:xfrm>
            <a:off x="4709160" y="2852928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709160" y="2852928"/>
            <a:ext cx="64008" cy="1188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0" name="Shape 33"/>
          <p:cNvSpPr/>
          <p:nvPr/>
        </p:nvSpPr>
        <p:spPr>
          <a:xfrm>
            <a:off x="4873752" y="299923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4" y="3118104"/>
            <a:ext cx="219456" cy="219456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5458968" y="300837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전입세대열람원</a:t>
            </a:r>
            <a:endParaRPr lang="en-US" sz="1250" dirty="0"/>
          </a:p>
        </p:txBody>
      </p:sp>
      <p:sp>
        <p:nvSpPr>
          <p:cNvPr id="43" name="Text 35"/>
          <p:cNvSpPr/>
          <p:nvPr/>
        </p:nvSpPr>
        <p:spPr>
          <a:xfrm>
            <a:off x="4873752" y="3456432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주민센터 발급(외국인은 외국인체류확인서로 대체). 실제 전입 세대·전입일을 확인해 위장·무단전입도 걸러냅니다.</a:t>
            </a:r>
            <a:endParaRPr lang="en-US" sz="930" dirty="0"/>
          </a:p>
        </p:txBody>
      </p:sp>
      <p:sp>
        <p:nvSpPr>
          <p:cNvPr id="44" name="Shape 36"/>
          <p:cNvSpPr/>
          <p:nvPr/>
        </p:nvSpPr>
        <p:spPr>
          <a:xfrm>
            <a:off x="502920" y="4251960"/>
            <a:ext cx="8138160" cy="502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5" name="Text 37"/>
          <p:cNvSpPr/>
          <p:nvPr/>
        </p:nvSpPr>
        <p:spPr>
          <a:xfrm>
            <a:off x="704088" y="42519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인근매각사례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까지 7종 세트로 봅니다. 모듈 08에서 이 문서들을 </a:t>
            </a:r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에이전트가 자동으로 읽고 구조화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하게 만듭니다.</a:t>
            </a:r>
            <a:endParaRPr lang="en-US" sz="1050" dirty="0"/>
          </a:p>
        </p:txBody>
      </p:sp>
      <p:sp>
        <p:nvSpPr>
          <p:cNvPr id="46" name="Text 38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7" name="Text 39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헷갈리는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vs 재건축 — 뭐가 다른가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4416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노후 지역 전체를 다시 짓는다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대상: 도로·상하수도 등 기반시설까지 낙후된 지역(주택+상가 혼재)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자격: 토지 또는 건축물 중 하나만 소유해도 가능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안전진단 불필요 — 노후도 기준으로 구역 지정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세입자 보호: 주거이전비·영업보상 등 공익사업 성격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재건축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5040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낡은 아파트 자체를 다시 짓는다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대상: 기반시설은 양호, 노후 공동주택(아파트) 자체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자격: 원칙적으로 토지 + 건물 모두 소유해야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안전진단 통과가 사업의 첫 관문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재건축초과이익환수제 적용 (재개발엔 없음)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둘 다 도시정비법 적용, 조합 설립 → 관리처분계획 인가를 거쳐 새 아파트를 짓는 정비사업입니다.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헷갈리는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신속통합기획 · 모아타운 · 공공재개발 · 지주택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1732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" y="1554480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322" y="1649578"/>
            <a:ext cx="175565" cy="1755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3093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신속통합기획</a:t>
            </a:r>
            <a:endParaRPr lang="en-US" sz="1030" dirty="0"/>
          </a:p>
        </p:txBody>
      </p:sp>
      <p:sp>
        <p:nvSpPr>
          <p:cNvPr id="9" name="Text 6"/>
          <p:cNvSpPr/>
          <p:nvPr/>
        </p:nvSpPr>
        <p:spPr>
          <a:xfrm>
            <a:off x="63093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서울시가 정비계획 단계에 가이드라인 제시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기존 재개발·재건축 절차는 유지, 심의기간만 단축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조합장 1명 체계 — 컨트롤 용이</a:t>
            </a:r>
            <a:endParaRPr lang="en-US" sz="760" dirty="0"/>
          </a:p>
        </p:txBody>
      </p:sp>
      <p:sp>
        <p:nvSpPr>
          <p:cNvPr id="10" name="Shape 7"/>
          <p:cNvSpPr/>
          <p:nvPr/>
        </p:nvSpPr>
        <p:spPr>
          <a:xfrm>
            <a:off x="258318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583180" y="141732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2" name="Shape 9"/>
          <p:cNvSpPr/>
          <p:nvPr/>
        </p:nvSpPr>
        <p:spPr>
          <a:xfrm>
            <a:off x="2729484" y="1554480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4582" y="1649578"/>
            <a:ext cx="175565" cy="17556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71119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모아타운</a:t>
            </a:r>
            <a:endParaRPr lang="en-US" sz="1030" dirty="0"/>
          </a:p>
        </p:txBody>
      </p:sp>
      <p:sp>
        <p:nvSpPr>
          <p:cNvPr id="15" name="Text 11"/>
          <p:cNvSpPr/>
          <p:nvPr/>
        </p:nvSpPr>
        <p:spPr>
          <a:xfrm>
            <a:off x="271119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대규모 재개발이 어려운 10만㎡ 이내 저층주거지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다가구·다세대 필지를 블록 단위로 묶어 공동개발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모아주택마다 개별 조합장 존재</a:t>
            </a:r>
            <a:endParaRPr lang="en-US" sz="760" dirty="0"/>
          </a:p>
        </p:txBody>
      </p:sp>
      <p:sp>
        <p:nvSpPr>
          <p:cNvPr id="16" name="Shape 12"/>
          <p:cNvSpPr/>
          <p:nvPr/>
        </p:nvSpPr>
        <p:spPr>
          <a:xfrm>
            <a:off x="466344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663440" y="141732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Shape 14"/>
          <p:cNvSpPr/>
          <p:nvPr/>
        </p:nvSpPr>
        <p:spPr>
          <a:xfrm>
            <a:off x="4809744" y="1554480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4842" y="1649578"/>
            <a:ext cx="175565" cy="17556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79145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공공재개발</a:t>
            </a:r>
            <a:endParaRPr lang="en-US" sz="1030" dirty="0"/>
          </a:p>
        </p:txBody>
      </p:sp>
      <p:sp>
        <p:nvSpPr>
          <p:cNvPr id="21" name="Text 16"/>
          <p:cNvSpPr/>
          <p:nvPr/>
        </p:nvSpPr>
        <p:spPr>
          <a:xfrm>
            <a:off x="479145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10년 넘게 정체된 사업지에 LH·SH 등 공공 참여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용적률 인센티브 대신 공공기여(임대주택 등) 확대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2021년 이후 신규 지정 사실상 중단</a:t>
            </a:r>
            <a:endParaRPr lang="en-US" sz="760" dirty="0"/>
          </a:p>
        </p:txBody>
      </p:sp>
      <p:sp>
        <p:nvSpPr>
          <p:cNvPr id="22" name="Shape 17"/>
          <p:cNvSpPr/>
          <p:nvPr/>
        </p:nvSpPr>
        <p:spPr>
          <a:xfrm>
            <a:off x="6743700" y="1417320"/>
            <a:ext cx="189738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743700" y="141732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Shape 19"/>
          <p:cNvSpPr/>
          <p:nvPr/>
        </p:nvSpPr>
        <p:spPr>
          <a:xfrm>
            <a:off x="6890004" y="1554480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102" y="1649578"/>
            <a:ext cx="175565" cy="175565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871716" y="2002536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지역주택조합(지주택)</a:t>
            </a:r>
            <a:endParaRPr lang="en-US" sz="1030" dirty="0"/>
          </a:p>
        </p:txBody>
      </p:sp>
      <p:sp>
        <p:nvSpPr>
          <p:cNvPr id="27" name="Text 21"/>
          <p:cNvSpPr/>
          <p:nvPr/>
        </p:nvSpPr>
        <p:spPr>
          <a:xfrm>
            <a:off x="6871716" y="2423160"/>
            <a:ext cx="16596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무주택자·소형주택 소유자가 스스로 모여 조합 결성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도시정비법이 아닌 주택법 적용 — 안전진단 없음</a:t>
            </a:r>
            <a:endParaRPr lang="en-US" sz="760" dirty="0"/>
          </a:p>
          <a:p>
            <a:pPr marL="76200" indent="-762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7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 미확보 상태로 시작 — 지연·무산 리스크 큼</a:t>
            </a:r>
            <a:endParaRPr lang="en-US" sz="760" dirty="0"/>
          </a:p>
        </p:txBody>
      </p:sp>
      <p:sp>
        <p:nvSpPr>
          <p:cNvPr id="28" name="Shape 22"/>
          <p:cNvSpPr/>
          <p:nvPr/>
        </p:nvSpPr>
        <p:spPr>
          <a:xfrm>
            <a:off x="502920" y="3913632"/>
            <a:ext cx="8138160" cy="8412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9" name="Text 23"/>
          <p:cNvSpPr/>
          <p:nvPr/>
        </p:nvSpPr>
        <p:spPr>
          <a:xfrm>
            <a:off x="704088" y="3913632"/>
            <a:ext cx="7772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공통점과 차이  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넷 다 “새 아파트를 짓기 위한 방식”입니다. 다만 앞의 셋(신속통합기획·모아타운·공공재개발)은 </a:t>
            </a:r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도시정비법 체계 안의 변주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이고, 지주택만 </a:t>
            </a:r>
            <a:pPr indent="0" marL="0">
              <a:lnSpc>
                <a:spcPct val="125000"/>
              </a:lnSpc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주택법 적용 + 토지 미확보</a:t>
            </a:r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라는 전혀 다른 위험구조를 갖습니다.</a:t>
            </a:r>
            <a:endParaRPr lang="en-US" sz="1030" dirty="0"/>
          </a:p>
        </p:txBody>
      </p:sp>
      <p:sp>
        <p:nvSpPr>
          <p:cNvPr id="30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1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헷갈리는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입주권 vs 분양권 — 둘 다 ‘아직 없는 새 집’에 대한 권리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입주권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4416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재개발·재건축 조합원이 받는 권리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기존 부동산을 조합에 제공하고 새 아파트를 받을 권리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관리처분계획 인가 후 발생 (기존 건물은 철거·멸실)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지위를 그대로 승계하는 형태로 거래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취득세: 기존 부동산분 + 추가 청산금(분담금) 반영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분양권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50408" y="18562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청약 등 일반분양으로 받는 권리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아직 짓지 않은 새 집에 대한 계약상 지위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계약금 → 중도금 → 잔금 순서로 대금 납부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완공 후 잔금 납부 시점에 취득세 발생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지역·평형별 전매제한 규정 적용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공통점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완공 전까지는 등기가 아니라 ‘권리’로 거래됩니다.  </a:t>
            </a:r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2021-01-01 이후 취득한 분양권은 다른 주택 양도세 계산 시 주택수에 포함됩니다.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헷갈리는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다가구 · 다세대 · 연립주택 — 등기부터 다르다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58775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17320"/>
            <a:ext cx="64008" cy="26060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58191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00784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71016" y="1600200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다가구주택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271016" y="189280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/>
        </p:spPr>
      </p:sp>
      <p:sp>
        <p:nvSpPr>
          <p:cNvPr id="10" name="Text 7"/>
          <p:cNvSpPr/>
          <p:nvPr/>
        </p:nvSpPr>
        <p:spPr>
          <a:xfrm>
            <a:off x="1271016" y="18928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단독주택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685800" y="2276856"/>
            <a:ext cx="22219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3개 층 이하 · 바닥면적 합계 660㎡ 이하 · 19세대 이하</a:t>
            </a:r>
            <a:endParaRPr lang="en-US" sz="930" dirty="0"/>
          </a:p>
          <a:p>
            <a:pPr marL="101600" indent="-1016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구분등기 불가 — 건물 전체가 1인 소유</a:t>
            </a:r>
            <a:endParaRPr lang="en-US" sz="930" dirty="0"/>
          </a:p>
          <a:p>
            <a:pPr marL="101600" indent="-1016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경매에서는 건물 전체가 통째로 낙찰 대상</a:t>
            </a:r>
            <a:endParaRPr lang="en-US" sz="930" dirty="0"/>
          </a:p>
        </p:txBody>
      </p:sp>
      <p:sp>
        <p:nvSpPr>
          <p:cNvPr id="12" name="Shape 9"/>
          <p:cNvSpPr/>
          <p:nvPr/>
        </p:nvSpPr>
        <p:spPr>
          <a:xfrm>
            <a:off x="3319272" y="1417320"/>
            <a:ext cx="258775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319272" y="1417320"/>
            <a:ext cx="64008" cy="260604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3502152" y="158191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1024" y="1700784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087368" y="1600200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다세대주택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4087368" y="189280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FDEFE5"/>
          </a:solidFill>
          <a:ln/>
        </p:spPr>
      </p:sp>
      <p:sp>
        <p:nvSpPr>
          <p:cNvPr id="18" name="Text 14"/>
          <p:cNvSpPr/>
          <p:nvPr/>
        </p:nvSpPr>
        <p:spPr>
          <a:xfrm>
            <a:off x="4087368" y="18928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공동주택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3502152" y="2276856"/>
            <a:ext cx="22219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4개 층 이하 · 바닥면적 합계 660㎡ 이하</a:t>
            </a:r>
            <a:endParaRPr lang="en-US" sz="930" dirty="0"/>
          </a:p>
          <a:p>
            <a:pPr marL="101600" indent="-1016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세대별 구분등기 가능 — 호실 개별 소유·매매</a:t>
            </a:r>
            <a:endParaRPr lang="en-US" sz="930" dirty="0"/>
          </a:p>
          <a:p>
            <a:pPr marL="101600" indent="-1016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경매에서는 호실 하나가 낙찰 대상</a:t>
            </a:r>
            <a:endParaRPr lang="en-US" sz="930" dirty="0"/>
          </a:p>
        </p:txBody>
      </p:sp>
      <p:sp>
        <p:nvSpPr>
          <p:cNvPr id="20" name="Shape 16"/>
          <p:cNvSpPr/>
          <p:nvPr/>
        </p:nvSpPr>
        <p:spPr>
          <a:xfrm>
            <a:off x="6135624" y="1417320"/>
            <a:ext cx="258775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135624" y="1417320"/>
            <a:ext cx="64008" cy="260604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2" name="Shape 18"/>
          <p:cNvSpPr/>
          <p:nvPr/>
        </p:nvSpPr>
        <p:spPr>
          <a:xfrm>
            <a:off x="6318504" y="158191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700784"/>
            <a:ext cx="219456" cy="21945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903720" y="1600200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연립주택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6903720" y="189280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FDEFE5"/>
          </a:solidFill>
          <a:ln/>
        </p:spPr>
      </p:sp>
      <p:sp>
        <p:nvSpPr>
          <p:cNvPr id="26" name="Text 21"/>
          <p:cNvSpPr/>
          <p:nvPr/>
        </p:nvSpPr>
        <p:spPr>
          <a:xfrm>
            <a:off x="6903720" y="18928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공동주택</a:t>
            </a:r>
            <a:endParaRPr lang="en-US" sz="800" dirty="0"/>
          </a:p>
        </p:txBody>
      </p:sp>
      <p:sp>
        <p:nvSpPr>
          <p:cNvPr id="27" name="Text 22"/>
          <p:cNvSpPr/>
          <p:nvPr/>
        </p:nvSpPr>
        <p:spPr>
          <a:xfrm>
            <a:off x="6318504" y="2276856"/>
            <a:ext cx="22219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4개 층 이하 · 바닥면적 합계 660㎡ 초과</a:t>
            </a:r>
            <a:endParaRPr lang="en-US" sz="930" dirty="0"/>
          </a:p>
          <a:p>
            <a:pPr marL="101600" indent="-1016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다세대처럼 세대별 구분등기 가능</a:t>
            </a:r>
            <a:endParaRPr lang="en-US" sz="930" dirty="0"/>
          </a:p>
          <a:p>
            <a:pPr marL="101600" indent="-1016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규모가 더 큰 ‘빌라’ — 다세대와 흔히 혼용</a:t>
            </a:r>
            <a:endParaRPr lang="en-US" sz="930" dirty="0"/>
          </a:p>
        </p:txBody>
      </p:sp>
      <p:sp>
        <p:nvSpPr>
          <p:cNvPr id="28" name="Text 23"/>
          <p:cNvSpPr/>
          <p:nvPr/>
        </p:nvSpPr>
        <p:spPr>
          <a:xfrm>
            <a:off x="502920" y="41605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구분 — 다가구는 집주인 1명에 세입자 여러 명, 다세대·연립은 세대마다 집주인이 다 다릅니다.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헷갈리는 용어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전용면적 · 공급면적 · 계약면적 — 어디까지 포함하나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813816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E261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0876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계약면적  </a:t>
            </a:r>
            <a:pPr indent="0" marL="0"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공급면적 + 기타공용면적 (지하주차장 · 관리사무소 등 부대복리시설)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60120" y="1920240"/>
            <a:ext cx="722376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C2B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2011680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공급면적(분양면적)  </a:t>
            </a:r>
            <a:pPr indent="0" marL="0"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전용면적 + 주거공용면적 (계단 · 복도 · 엘리베이터) — 평당가 계산 기준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417320" y="2423160"/>
            <a:ext cx="6309360" cy="960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1600200" y="2423160"/>
            <a:ext cx="594360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전용면적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0200" y="2951226"/>
            <a:ext cx="59436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거주 공간 (현관 안쪽) — 등기부에 기재되는 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02920" y="416052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발코니(서비스면적)는 전용면적에 포함되지 않습니다 — 확장하면 실사용 면적은 늘지만 등기상 면적(전용면적)은 그대로입니다.</a:t>
            </a:r>
            <a:endParaRPr lang="en-US" sz="1030" dirty="0"/>
          </a:p>
        </p:txBody>
      </p:sp>
      <p:sp>
        <p:nvSpPr>
          <p:cNvPr id="12" name="Text 1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25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낙찰 이후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잔금 계획 — 경락잔금대출과 대금미납 리스크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경락잔금대출 — 낙찰 대금을 마련하는 대표 방법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02920" y="1664208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65323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14984" y="1645920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4984" y="1645920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1179576" y="16459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前 대출 가능액 미리 가늠 (여러 기관 문의)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02920" y="2231136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22016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14984" y="2212848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4984" y="2212848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1179576" y="22128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매각허가결정 확정 후 신청·심사 진행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502920" y="2798064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78709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4984" y="2779776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14984" y="2779776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1179576" y="277977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은행·저축은행 금리·한도·수수료 비교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502920" y="3364992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35401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014984" y="3346704"/>
            <a:ext cx="35661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14984" y="3346704"/>
            <a:ext cx="64008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1179576" y="334670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대금납부기한 안에 실행 완료되는지 확인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502920" y="404164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LTV·DSR 규제·규제지역·다주택 여부에 따라 한도가 달라집니다 — 정확한 수치는 상담 시점 확인.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502920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대금미납은 왜 생기나 — 원인별 정리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029200" y="166420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0" y="166420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5193792" y="166420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대출 부족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6309360" y="16642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규제·위반건축물 등으로 예상보다 한도 미달</a:t>
            </a:r>
            <a:endParaRPr lang="en-US" sz="830" dirty="0"/>
          </a:p>
        </p:txBody>
      </p:sp>
      <p:sp>
        <p:nvSpPr>
          <p:cNvPr id="31" name="Shape 29"/>
          <p:cNvSpPr/>
          <p:nvPr/>
        </p:nvSpPr>
        <p:spPr>
          <a:xfrm>
            <a:off x="5029200" y="221284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0" y="221284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3" name="Text 31"/>
          <p:cNvSpPr/>
          <p:nvPr/>
        </p:nvSpPr>
        <p:spPr>
          <a:xfrm>
            <a:off x="5193792" y="221284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오류</a:t>
            </a:r>
            <a:endParaRPr lang="en-US" sz="980" dirty="0"/>
          </a:p>
        </p:txBody>
      </p:sp>
      <p:sp>
        <p:nvSpPr>
          <p:cNvPr id="34" name="Text 32"/>
          <p:cNvSpPr/>
          <p:nvPr/>
        </p:nvSpPr>
        <p:spPr>
          <a:xfrm>
            <a:off x="6309360" y="22128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 인수금을 놓치고 고가 낙찰</a:t>
            </a:r>
            <a:endParaRPr lang="en-US" sz="830" dirty="0"/>
          </a:p>
        </p:txBody>
      </p:sp>
      <p:sp>
        <p:nvSpPr>
          <p:cNvPr id="35" name="Shape 33"/>
          <p:cNvSpPr/>
          <p:nvPr/>
        </p:nvSpPr>
        <p:spPr>
          <a:xfrm>
            <a:off x="5029200" y="276148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0" y="276148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7" name="Text 35"/>
          <p:cNvSpPr/>
          <p:nvPr/>
        </p:nvSpPr>
        <p:spPr>
          <a:xfrm>
            <a:off x="5193792" y="276148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후 발견</a:t>
            </a:r>
            <a:endParaRPr lang="en-US" sz="980" dirty="0"/>
          </a:p>
        </p:txBody>
      </p:sp>
      <p:sp>
        <p:nvSpPr>
          <p:cNvPr id="38" name="Text 36"/>
          <p:cNvSpPr/>
          <p:nvPr/>
        </p:nvSpPr>
        <p:spPr>
          <a:xfrm>
            <a:off x="6309360" y="27614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임장에서 누수·유치권 등 새 하자 확인</a:t>
            </a:r>
            <a:endParaRPr lang="en-US" sz="830" dirty="0"/>
          </a:p>
        </p:txBody>
      </p:sp>
      <p:sp>
        <p:nvSpPr>
          <p:cNvPr id="39" name="Shape 37"/>
          <p:cNvSpPr/>
          <p:nvPr/>
        </p:nvSpPr>
        <p:spPr>
          <a:xfrm>
            <a:off x="5029200" y="3310128"/>
            <a:ext cx="3611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29200" y="3310128"/>
            <a:ext cx="64008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1" name="Text 39"/>
          <p:cNvSpPr/>
          <p:nvPr/>
        </p:nvSpPr>
        <p:spPr>
          <a:xfrm>
            <a:off x="5193792" y="331012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 사정</a:t>
            </a:r>
            <a:endParaRPr lang="en-US" sz="980" dirty="0"/>
          </a:p>
        </p:txBody>
      </p:sp>
      <p:sp>
        <p:nvSpPr>
          <p:cNvPr id="42" name="Text 40"/>
          <p:cNvSpPr/>
          <p:nvPr/>
        </p:nvSpPr>
        <p:spPr>
          <a:xfrm>
            <a:off x="6309360" y="331012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실직·건강 등 물건과 무관한 자금 차질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5029200" y="3913632"/>
            <a:ext cx="3611880" cy="585216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4" name="Text 42"/>
          <p:cNvSpPr/>
          <p:nvPr/>
        </p:nvSpPr>
        <p:spPr>
          <a:xfrm>
            <a:off x="5193792" y="391363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미납의 대가  </a:t>
            </a:r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입찰보증금 몰수 + 재매각 (재매각은 보증금이 20~30%로 오르기도).</a:t>
            </a:r>
            <a:endParaRPr lang="en-US" sz="930" dirty="0"/>
          </a:p>
        </p:txBody>
      </p:sp>
      <p:sp>
        <p:nvSpPr>
          <p:cNvPr id="45" name="Text 4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26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낙찰 이후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 — 점유자가 안 나갈 때, 인도명령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대금을 완납해 소유권을 얻어도, 살고 있는 사람이 스스로 나가지 않으면 직접 들어갈 수 없습니다. 이때 법원의 힘을 빌리는 첫 번째 수단이 인도명령입니다.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2648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 완납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12648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인도명령의 전제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 rot="5400000">
            <a:off x="1787652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2" name="Shape 10"/>
          <p:cNvSpPr/>
          <p:nvPr/>
        </p:nvSpPr>
        <p:spPr>
          <a:xfrm>
            <a:off x="1883664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883664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993392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1993392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인도명령 신청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993392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완납 후 6개월 이내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 rot="5400000">
            <a:off x="3168396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9" name="Shape 17"/>
          <p:cNvSpPr/>
          <p:nvPr/>
        </p:nvSpPr>
        <p:spPr>
          <a:xfrm>
            <a:off x="3264408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64408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9"/>
          <p:cNvSpPr/>
          <p:nvPr/>
        </p:nvSpPr>
        <p:spPr>
          <a:xfrm>
            <a:off x="3374136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3374136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74136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심문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74136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제3자 점유 시 의견 청취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 rot="5400000">
            <a:off x="4549140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6" name="Shape 24"/>
          <p:cNvSpPr/>
          <p:nvPr/>
        </p:nvSpPr>
        <p:spPr>
          <a:xfrm>
            <a:off x="4645152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45152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Shape 26"/>
          <p:cNvSpPr/>
          <p:nvPr/>
        </p:nvSpPr>
        <p:spPr>
          <a:xfrm>
            <a:off x="4754880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9" name="Text 27"/>
          <p:cNvSpPr/>
          <p:nvPr/>
        </p:nvSpPr>
        <p:spPr>
          <a:xfrm>
            <a:off x="4754880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54880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결정·확정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54880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이의 없으면 확정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 rot="5400000">
            <a:off x="5929884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33" name="Shape 31"/>
          <p:cNvSpPr/>
          <p:nvPr/>
        </p:nvSpPr>
        <p:spPr>
          <a:xfrm>
            <a:off x="6025896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025896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5" name="Shape 33"/>
          <p:cNvSpPr/>
          <p:nvPr/>
        </p:nvSpPr>
        <p:spPr>
          <a:xfrm>
            <a:off x="6135624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6" name="Text 34"/>
          <p:cNvSpPr/>
          <p:nvPr/>
        </p:nvSpPr>
        <p:spPr>
          <a:xfrm>
            <a:off x="6135624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35624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강제집행 신청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135624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집행관에게 접수</a:t>
            </a:r>
            <a:endParaRPr lang="en-US" sz="720" dirty="0"/>
          </a:p>
        </p:txBody>
      </p:sp>
      <p:sp>
        <p:nvSpPr>
          <p:cNvPr id="39" name="Shape 37"/>
          <p:cNvSpPr/>
          <p:nvPr/>
        </p:nvSpPr>
        <p:spPr>
          <a:xfrm rot="5400000">
            <a:off x="7310628" y="2382012"/>
            <a:ext cx="109728" cy="109728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0" name="Shape 38"/>
          <p:cNvSpPr/>
          <p:nvPr/>
        </p:nvSpPr>
        <p:spPr>
          <a:xfrm>
            <a:off x="7406640" y="1920240"/>
            <a:ext cx="12801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7406640" y="1920240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516368" y="2029968"/>
            <a:ext cx="274320" cy="27432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3" name="Text 41"/>
          <p:cNvSpPr/>
          <p:nvPr/>
        </p:nvSpPr>
        <p:spPr>
          <a:xfrm>
            <a:off x="7516368" y="20189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516368" y="2359152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계고 → 집행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516368" y="2633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자진 인도 촉구 후 반출</a:t>
            </a:r>
            <a:endParaRPr lang="en-US" sz="720" dirty="0"/>
          </a:p>
        </p:txBody>
      </p:sp>
      <p:sp>
        <p:nvSpPr>
          <p:cNvPr id="46" name="Shape 44"/>
          <p:cNvSpPr/>
          <p:nvPr/>
        </p:nvSpPr>
        <p:spPr>
          <a:xfrm>
            <a:off x="502920" y="3273552"/>
            <a:ext cx="8138160" cy="640080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4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429000"/>
            <a:ext cx="292608" cy="292608"/>
          </a:xfrm>
          <a:prstGeom prst="rect">
            <a:avLst/>
          </a:prstGeom>
        </p:spPr>
      </p:pic>
      <p:sp>
        <p:nvSpPr>
          <p:cNvPr id="48" name="Text 45"/>
          <p:cNvSpPr/>
          <p:nvPr/>
        </p:nvSpPr>
        <p:spPr>
          <a:xfrm>
            <a:off x="1106424" y="331012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6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인도명령이 안 통하는 경우  </a:t>
            </a:r>
            <a:pPr indent="0" marL="0">
              <a:lnSpc>
                <a:spcPct val="115000"/>
              </a:lnSpc>
              <a:buNone/>
            </a:pPr>
            <a:r>
              <a:rPr lang="en-US" sz="96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있는 임차인·유치권자처럼 정당한 점유권원이 있으면 기각 → 명도소송으로. (이건 낙찰 前 권리분석에서 이미 걸러야 할 문제)</a:t>
            </a:r>
            <a:endParaRPr lang="en-US" sz="960" dirty="0"/>
          </a:p>
        </p:txBody>
      </p:sp>
      <p:sp>
        <p:nvSpPr>
          <p:cNvPr id="49" name="Text 46"/>
          <p:cNvSpPr/>
          <p:nvPr/>
        </p:nvSpPr>
        <p:spPr>
          <a:xfrm>
            <a:off x="502920" y="40416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6개월 기한을 넘기면 인도명령을 못 쓰고 훨씬 오래 걸리는 명도소송으로 갑니다 — 실무에선 강제집행 전 이사비 협의로 마무리되는 경우도 많습니다.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51" name="Text 4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27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 자동화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성향을 알고, 물건 데이터가 매일 아침 내 손안에 도착하게 만듭니다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6047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6047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455164" y="3520440"/>
            <a:ext cx="1499616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5164" y="3520440"/>
            <a:ext cx="14996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119372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119372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678424" y="3520440"/>
            <a:ext cx="1289304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78424" y="3520440"/>
            <a:ext cx="1289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 봇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02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 — 나에게 맞는 전략부터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96696" y="1481328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안정형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194560" y="1682496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3081528" y="1481328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2" name="Text 10"/>
          <p:cNvSpPr/>
          <p:nvPr/>
        </p:nvSpPr>
        <p:spPr>
          <a:xfrm>
            <a:off x="3081528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75304" y="148132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공격형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2139696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12872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6696" y="2139696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시세차익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194560" y="2340864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081528" y="2139696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9" name="Text 17"/>
          <p:cNvSpPr/>
          <p:nvPr/>
        </p:nvSpPr>
        <p:spPr>
          <a:xfrm>
            <a:off x="3081528" y="212872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75304" y="213969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현금흐름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2920" y="2798064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278709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96696" y="2798064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손품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194560" y="2999232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3081528" y="2798064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6" name="Text 24"/>
          <p:cNvSpPr/>
          <p:nvPr/>
        </p:nvSpPr>
        <p:spPr>
          <a:xfrm>
            <a:off x="3081528" y="278709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575304" y="279806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자동화 위임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02920" y="3456432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" y="3445459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96696" y="345643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단기 회전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2194560" y="3657600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81528" y="3456432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33" name="Text 31"/>
          <p:cNvSpPr/>
          <p:nvPr/>
        </p:nvSpPr>
        <p:spPr>
          <a:xfrm>
            <a:off x="3081528" y="3445459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575304" y="34564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장기 보유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42062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4개 축 × 2 = 16가지 투자 유형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0" y="1417320"/>
            <a:ext cx="361188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029200" y="1417320"/>
            <a:ext cx="64008" cy="3017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8" name="Text 36"/>
          <p:cNvSpPr/>
          <p:nvPr/>
        </p:nvSpPr>
        <p:spPr>
          <a:xfrm>
            <a:off x="5230368" y="15727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모듈에서 만드는 것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285232" y="19659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AI에게 12문항 성향 설문 설계시키기</a:t>
            </a:r>
            <a:endParaRPr lang="en-US" sz="1100" dirty="0"/>
          </a:p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응답 → 16유형 자동 판정 로직</a:t>
            </a:r>
            <a:endParaRPr lang="en-US" sz="1100" dirty="0"/>
          </a:p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유형별 추천 전략 매핑 (예: 안정+현금흐름 → 소형 아파트 월세 세팅)</a:t>
            </a:r>
            <a:endParaRPr lang="en-US" sz="1100" dirty="0"/>
          </a:p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유형이 이후 모든 실습의 필터가 됩니다 — 검색 조건, 대시보드 지표, 입찰 기준까지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29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03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 — 막히는 사이트를 뚫는 기술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courtauction.go.kr의 3중 방어벽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1755648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755648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828800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IP 차단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920240" y="1828800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requests 직접 호출 → “비정상 접속으로 차단” 즉시 반환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596896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596896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670048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헤드리스 감지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920240" y="2670048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WebSquare가 자동화 브라우저를 감지하면 화면 렌더링 중단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02920" y="3438144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" y="3438144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511296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파이프라인 지연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920240" y="3511296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응답이 클릭 1~2번 뒤에 도착 — 순진한 대기는 빈 데이터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5029200" y="1371600"/>
            <a:ext cx="36118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29200" y="1371600"/>
            <a:ext cx="64008" cy="2743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5230368" y="15179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 스택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285232" y="187452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Playwright 스텔스 모드 — 자동화 흔적 숨기기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브라우저 컨텍스트로 세션 유지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지연 응답을 기다리는 파이프라인 플러시 패턴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결과: 사건번호 · 소재지 · 감정가 · 최저가 · 유찰횟수 → CSV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5029200" y="4224528"/>
            <a:ext cx="361188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5138928" y="4224528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실전 검증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의정부지법 아파트 유찰 1회+ 43건 자동 수집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30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04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 — 경매의 반대편 시장까지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2103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704088" y="15544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715" y="1678107"/>
            <a:ext cx="228234" cy="22823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580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 물건의 성격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8580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캠코가 파는 압류재산·국공유재산. 세금 체납 물건은 권리관계가 상대적으로 단순한 경우가 많습니다.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329184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91840" y="1371600"/>
            <a:ext cx="64008" cy="21031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349300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635" y="1678107"/>
            <a:ext cx="228234" cy="22823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47472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직장인 친화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347472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온라인 전자입찰 — 법원에 갈 필요가 없습니다. 평일 낮 시간을 낼 수 없는 투자자의 주력 시장.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608076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080760" y="1371600"/>
            <a:ext cx="64008" cy="2103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281928" y="15544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555" y="1678107"/>
            <a:ext cx="228234" cy="22823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26364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정보의 비대칭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626364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대비 참여자·분석 서비스가 적습니다. 데이터를 직접 모으는 사람에게 유리한 시장.</a:t>
            </a:r>
            <a:endParaRPr lang="en-US" sz="980" dirty="0"/>
          </a:p>
        </p:txBody>
      </p:sp>
      <p:sp>
        <p:nvSpPr>
          <p:cNvPr id="25" name="Shape 20"/>
          <p:cNvSpPr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Text 21"/>
          <p:cNvSpPr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CSV (M03)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3108960" y="3794760"/>
            <a:ext cx="2377440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8" name="Text 23"/>
          <p:cNvSpPr/>
          <p:nvPr/>
        </p:nvSpPr>
        <p:spPr>
          <a:xfrm>
            <a:off x="310896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CSV (M04)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 rot="5400000">
            <a:off x="5696712" y="392277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30" name="Shape 25"/>
          <p:cNvSpPr/>
          <p:nvPr/>
        </p:nvSpPr>
        <p:spPr>
          <a:xfrm>
            <a:off x="6080760" y="3794760"/>
            <a:ext cx="2560320" cy="457200"/>
          </a:xfrm>
          <a:prstGeom prst="rect">
            <a:avLst/>
          </a:prstGeom>
          <a:solidFill>
            <a:srgbClr val="3D5480"/>
          </a:solidFill>
          <a:ln/>
        </p:spPr>
      </p:sp>
      <p:sp>
        <p:nvSpPr>
          <p:cNvPr id="31" name="Text 26"/>
          <p:cNvSpPr/>
          <p:nvPr/>
        </p:nvSpPr>
        <p:spPr>
          <a:xfrm>
            <a:off x="6080760" y="3794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스키마 통일 → 통합 물건 DB</a:t>
            </a:r>
            <a:endParaRPr lang="en-US" sz="1050" dirty="0"/>
          </a:p>
        </p:txBody>
      </p:sp>
      <p:sp>
        <p:nvSpPr>
          <p:cNvPr id="32" name="Text 2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31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05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텔레그램으로 받아보고, 채팅으로 명령한다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51560" y="1453896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1560" y="1453896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1252728" y="1453896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매일 아침 스케줄러 실행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04088" y="1883664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249424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23845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051560" y="2221992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1560" y="2221992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7" name="Text 15"/>
          <p:cNvSpPr/>
          <p:nvPr/>
        </p:nvSpPr>
        <p:spPr>
          <a:xfrm>
            <a:off x="1252728" y="2221992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크롤러가 신건 수집 · 관심조건 필터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04088" y="2651760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017520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300654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51560" y="2990088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" y="2990088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3" name="Text 21"/>
          <p:cNvSpPr/>
          <p:nvPr/>
        </p:nvSpPr>
        <p:spPr>
          <a:xfrm>
            <a:off x="1252728" y="299008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텔레그램으로 요약 발송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704088" y="3419856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3785616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77464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51560" y="3758184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51560" y="3758184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1252728" y="3758184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채팅 명령 → 봇이 크롤러 호출 → 즉시 회신</a:t>
            </a:r>
            <a:endParaRPr lang="en-US" sz="1080" dirty="0"/>
          </a:p>
        </p:txBody>
      </p:sp>
      <p:sp>
        <p:nvSpPr>
          <p:cNvPr id="30" name="Shape 28"/>
          <p:cNvSpPr/>
          <p:nvPr/>
        </p:nvSpPr>
        <p:spPr>
          <a:xfrm>
            <a:off x="4937760" y="1371600"/>
            <a:ext cx="3703320" cy="3246120"/>
          </a:xfrm>
          <a:prstGeom prst="rect">
            <a:avLst/>
          </a:prstGeom>
          <a:solidFill>
            <a:srgbClr val="EDF1F7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37760" y="1371600"/>
            <a:ext cx="3703320" cy="365760"/>
          </a:xfrm>
          <a:prstGeom prst="rect">
            <a:avLst/>
          </a:prstGeom>
          <a:solidFill>
            <a:srgbClr val="1C2B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Telegram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120640" y="1874520"/>
            <a:ext cx="265176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D5DC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57800" y="1938528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오늘의 신건 3건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의정부 아파트 · 유찰1회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최저가 3.2억 (감정가 4.6억)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2026타경1234 외 2건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035040" y="3063240"/>
            <a:ext cx="2423160" cy="502920"/>
          </a:xfrm>
          <a:prstGeom prst="roundRect">
            <a:avLst>
              <a:gd name="adj" fmla="val 21818"/>
            </a:avLst>
          </a:prstGeom>
          <a:solidFill>
            <a:srgbClr val="FDE3D2"/>
          </a:solidFill>
          <a:ln/>
        </p:spPr>
      </p:sp>
      <p:sp>
        <p:nvSpPr>
          <p:cNvPr id="35" name="Text 33"/>
          <p:cNvSpPr/>
          <p:nvPr/>
        </p:nvSpPr>
        <p:spPr>
          <a:xfrm>
            <a:off x="6144768" y="306324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“양주시 다세대 유찰 2회 검색해줘”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120640" y="3703320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9525">
            <a:solidFill>
              <a:srgbClr val="D5DC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57800" y="3703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검색 중… 7건 발견, CSV 첨부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32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분석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물건을 보기 전에 시장을 봅니다 — 실거래 데이터로 단지와 지역을 해부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6047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6047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단지분석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455164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5164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실습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06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API로 아파트 단지 분해하기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소스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16916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국토교통부 실거래가 공개시스템 API — 매매 + 전월세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공동주택 기본정보 — 세대수 · 동수 · 준공연도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모듈에서 계산하는 것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97180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평당가 추이 — 저점 대비 얼마나 올랐나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동별 · 층별 · 평형별 가격 차이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전세가율과 갭 — 실투자금 계산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 vs 실거래 시세 교차 검증 (M03 연계)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4892040" y="1371600"/>
            <a:ext cx="3749040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graphicFrame>
        <p:nvGraphicFramePr>
          <p:cNvPr id="12" name="Chart 0" descr=""/>
          <p:cNvGraphicFramePr/>
          <p:nvPr/>
        </p:nvGraphicFramePr>
        <p:xfrm>
          <a:off x="5029200" y="1572768"/>
          <a:ext cx="347472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/>
          <p:nvPr/>
        </p:nvSpPr>
        <p:spPr>
          <a:xfrm>
            <a:off x="5029200" y="4114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예시: ○○단지 84㎡ 평당가 추이 — 실습에서 직접 뽑아봅니다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34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07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— 어디를 볼지 데이터로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655064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1499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공급 물량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280160" y="1828800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 예정 물량이 몰리는 시점 = 전세가 하락 · 가격 조정 가능성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4709160" y="1371600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709160" y="1371600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4892040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655064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486400" y="1499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미분양 추이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486400" y="1828800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증가세면 경고, 감소 전환이면 바닥 신호로 해석되는 대표 지표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502920" y="2770632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02920" y="2770632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85800" y="2935224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054096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280160" y="28986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인구 · 세대 이동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1280160" y="3227832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전입이 꾸준한 지역인가 — 수요의 방향을 보여주는 근본 지표</a:t>
            </a:r>
            <a:endParaRPr lang="en-US" sz="980" dirty="0"/>
          </a:p>
        </p:txBody>
      </p:sp>
      <p:sp>
        <p:nvSpPr>
          <p:cNvPr id="25" name="Shape 20"/>
          <p:cNvSpPr/>
          <p:nvPr/>
        </p:nvSpPr>
        <p:spPr>
          <a:xfrm>
            <a:off x="4709160" y="2770632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709160" y="2770632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7" name="Shape 22"/>
          <p:cNvSpPr/>
          <p:nvPr/>
        </p:nvSpPr>
        <p:spPr>
          <a:xfrm>
            <a:off x="4892040" y="2935224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3054096"/>
            <a:ext cx="219456" cy="21945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486400" y="28986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거래량 · 매물</a:t>
            </a:r>
            <a:endParaRPr lang="en-US" sz="1250" dirty="0"/>
          </a:p>
        </p:txBody>
      </p:sp>
      <p:sp>
        <p:nvSpPr>
          <p:cNvPr id="30" name="Text 24"/>
          <p:cNvSpPr/>
          <p:nvPr/>
        </p:nvSpPr>
        <p:spPr>
          <a:xfrm>
            <a:off x="5486400" y="3227832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거래량 급증 + 매물 감소 조합은 시장 전환의 조기 신호</a:t>
            </a:r>
            <a:endParaRPr lang="en-US" sz="980" dirty="0"/>
          </a:p>
        </p:txBody>
      </p:sp>
      <p:sp>
        <p:nvSpPr>
          <p:cNvPr id="31" name="Shape 25"/>
          <p:cNvSpPr/>
          <p:nvPr/>
        </p:nvSpPr>
        <p:spPr>
          <a:xfrm>
            <a:off x="502920" y="4041648"/>
            <a:ext cx="8138160" cy="51206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2" name="Text 26"/>
          <p:cNvSpPr/>
          <p:nvPr/>
        </p:nvSpPr>
        <p:spPr>
          <a:xfrm>
            <a:off x="731520" y="4041648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실습 산출물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후보 지역 3곳 비교 대시보드 → 내 성향(M02)과 결합해 타깃 지역 확정</a:t>
            </a:r>
            <a:endParaRPr lang="en-US" sz="1150" dirty="0"/>
          </a:p>
        </p:txBody>
      </p:sp>
      <p:sp>
        <p:nvSpPr>
          <p:cNvPr id="33" name="Text 2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4" name="Text 2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35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 · 투자 판단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문서를 읽고, 입지를 채점하고, 수익률을 계산하는 나만의 에이전트를 만듭니다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07899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929384" y="3520440"/>
            <a:ext cx="107899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929384" y="352044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172968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172968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732020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32020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분석기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08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에이전트 — 문서를 읽고 인수금을 계산한다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0642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문서 수집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751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 · 현황조사서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 rot="5400000">
            <a:off x="234543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14" name="Shape 12"/>
          <p:cNvSpPr/>
          <p:nvPr/>
        </p:nvSpPr>
        <p:spPr>
          <a:xfrm>
            <a:off x="260604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60604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6" name="Shape 14"/>
          <p:cNvSpPr/>
          <p:nvPr/>
        </p:nvSpPr>
        <p:spPr>
          <a:xfrm>
            <a:off x="277063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7" name="Text 15"/>
          <p:cNvSpPr/>
          <p:nvPr/>
        </p:nvSpPr>
        <p:spPr>
          <a:xfrm>
            <a:off x="277063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954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 구조화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77063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성명 · 보증금 · 전입일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· 배당요구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 rot="5400000">
            <a:off x="444855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0916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3" name="Shape 21"/>
          <p:cNvSpPr/>
          <p:nvPr/>
        </p:nvSpPr>
        <p:spPr>
          <a:xfrm>
            <a:off x="487375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487375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1266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판정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87375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말소기준권리와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전입일 자동 비교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 rot="5400000">
            <a:off x="655167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8" name="Shape 26"/>
          <p:cNvSpPr/>
          <p:nvPr/>
        </p:nvSpPr>
        <p:spPr>
          <a:xfrm>
            <a:off x="681228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81228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0" name="Shape 28"/>
          <p:cNvSpPr/>
          <p:nvPr/>
        </p:nvSpPr>
        <p:spPr>
          <a:xfrm>
            <a:off x="697687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1" name="Text 29"/>
          <p:cNvSpPr/>
          <p:nvPr/>
        </p:nvSpPr>
        <p:spPr>
          <a:xfrm>
            <a:off x="697687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41578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인수금 산출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97687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 보증금 합산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입찰가에 반영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502920" y="3429000"/>
            <a:ext cx="8138160" cy="1005840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3630168"/>
            <a:ext cx="310896" cy="310896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1161288" y="3520440"/>
            <a:ext cx="7223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에이전트의 판정은 초안입니다.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판정에 근거(원문 조항 · 지식베이스 항목) 인용을 강제하고, 근거 없는 답은 반려하도록 설계합니다. 특히 배당순서 · 최우선변제는 AI가 자주 틀리는 영역 — 최종 확인은 반드시 사람이 합니다.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37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09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 에이전트 — 발품을 데이터로 보완한다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17830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655064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9224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학군 · 학원가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49224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배정 학교, 학업성취도, 학원 밀집도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587752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87752" y="1371600"/>
            <a:ext cx="64008" cy="17830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2752344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216" y="1655064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734056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교통 · 직주근접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734056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역까지 도보거리, 주요 업무지구 통근시간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4672584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672584" y="1371600"/>
            <a:ext cx="64008" cy="17830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4837176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1655064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818888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호재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4818888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GTX · 철도 · 정비구역 — 지자체 고시 기반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6757416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6757416" y="1371600"/>
            <a:ext cx="64008" cy="17830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7" name="Shape 22"/>
          <p:cNvSpPr/>
          <p:nvPr/>
        </p:nvSpPr>
        <p:spPr>
          <a:xfrm>
            <a:off x="6922008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1655064"/>
            <a:ext cx="219456" cy="21945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03720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생활 인프라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6903720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마트 · 병원 · 공원 — 지도 API로 반경 집계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502920" y="3401568"/>
            <a:ext cx="512064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502920" y="3401568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3" name="Text 27"/>
          <p:cNvSpPr/>
          <p:nvPr/>
        </p:nvSpPr>
        <p:spPr>
          <a:xfrm>
            <a:off x="704088" y="351129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산출물 — 물건별 입지 스코어카드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04088" y="3803904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후보 물건들을 같은 잣대로 채점해 비교표로 — 점수는 비교용이지 정답이 아닙니다. 현장조사 체크리스트와 반드시 병행합니다.</a:t>
            </a:r>
            <a:endParaRPr lang="en-US" sz="1000" dirty="0"/>
          </a:p>
        </p:txBody>
      </p:sp>
      <p:sp>
        <p:nvSpPr>
          <p:cNvPr id="35" name="Shape 29"/>
          <p:cNvSpPr/>
          <p:nvPr/>
        </p:nvSpPr>
        <p:spPr>
          <a:xfrm>
            <a:off x="5852160" y="3401568"/>
            <a:ext cx="2788920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6" name="Text 30"/>
          <p:cNvSpPr/>
          <p:nvPr/>
        </p:nvSpPr>
        <p:spPr>
          <a:xfrm>
            <a:off x="6053328" y="34747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예시 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○○아파트 입지점수
</a:t>
            </a:r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82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/ 100  (교통 A · 학군 B+)</a:t>
            </a:r>
            <a:endParaRPr lang="en-US" sz="950" dirty="0"/>
          </a:p>
        </p:txBody>
      </p:sp>
      <p:sp>
        <p:nvSpPr>
          <p:cNvPr id="37" name="Text 3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8" name="Text 3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38</a:t>
            </a:r>
            <a:endParaRPr lang="en-US" sz="8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10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 — 숫자로 입찰가를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7160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예상 낙찰가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331720" y="137160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인근 매각사례 · 낙찰가율 통계로 추정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502920" y="1938528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1938528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9385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취득 비용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31720" y="1938528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취득세 · 법무비 · 명도비 · 수리비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502920" y="2505456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505456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50545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인수금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31720" y="25054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권리분석(M08)에서 산출한 인수 보증금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502920" y="3072384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072384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07238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총 취득원가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331720" y="307238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물건을 갖는 데 드는 진짜 돈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502920" y="3639312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920" y="3639312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363931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vs 시세 · 임대료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331720" y="3639312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실거래(M06) 기준 매도가 · 월세 시나리오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5897880" y="1371600"/>
            <a:ext cx="2743200" cy="2761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Text 26"/>
          <p:cNvSpPr/>
          <p:nvPr/>
        </p:nvSpPr>
        <p:spPr>
          <a:xfrm>
            <a:off x="589788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ROI · 손익분기가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897880" y="2148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상한선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897880" y="254203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을 먼저 정하고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입찰장에 들어갑니다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897880" y="34290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현장의 분위기가 아니라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숫자가 손을 들게 하는 것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39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11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투자분석기 — 비례율과 분담금을 자동 계산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비례율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737360" y="145389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(종후자산 − 총사업비) ÷ 종전자산 × 100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737360" y="1783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이상이면 사업성 양호 신호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267712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267712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359152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권리가액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737360" y="235000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종전자산 평가액 × 비례율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737360" y="26791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물건이 새 아파트에서 인정받는 가치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502920" y="3163824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3163824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255264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분담금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737360" y="32461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분양가 − 권리가액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737360" y="357530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추가로 내야 하는 돈 — 총투자금의 핵심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897880" y="1371600"/>
            <a:ext cx="274320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97880" y="1371600"/>
            <a:ext cx="64008" cy="26517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Text 22"/>
          <p:cNvSpPr/>
          <p:nvPr/>
        </p:nvSpPr>
        <p:spPr>
          <a:xfrm>
            <a:off x="6099048" y="15179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체크 항목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144768" y="187452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물딱지 위험 — 권리산정기준일 이후 지분 쪼개기 여부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현금청산 대상 여부 — 분양신청 기한 확인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추가분담금 시나리오 — 공사비 상승 ±20% 스트레스 테스트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2920" y="41605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 전 비례율은 추정치입니다 — 관리처분 인가 전 숫자를 그대로 믿지 않도록 분석기가 경고를 띄웁니다.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에이전트의 토대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믿게 만드는 장치 — 지식베이스와 검증 루프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지식창고 (11개 폴더)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755648"/>
            <a:ext cx="11658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755648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· 규제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796796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96796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세금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19172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19172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법령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1548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548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21284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2128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실무 Q&amp;A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82496" y="22128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82496" y="22128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체크리스트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7772" y="221284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7772" y="22128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공식 데이터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2670048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67004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개발계획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453896" y="2670048"/>
            <a:ext cx="1165860" cy="365760"/>
          </a:xfrm>
          <a:prstGeom prst="roundRect">
            <a:avLst>
              <a:gd name="adj" fmla="val 50000"/>
            </a:avLst>
          </a:prstGeom>
          <a:solidFill>
            <a:srgbClr val="E2611F"/>
          </a:solidFill>
          <a:ln w="9525">
            <a:solidFill>
              <a:srgbClr val="E261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53896" y="2670048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오답노트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47772" y="26700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7772" y="26700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 원칙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31272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1272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변경 이력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2920" y="3675888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· 세법은 “언제부터 언제까지” 이력으로 저장 — AI가 한 번 틀린 사례는 오답노트로 남겨 재발을 막습니다.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0" y="1371600"/>
            <a:ext cx="361188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029200" y="1371600"/>
            <a:ext cx="64008" cy="31089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0" name="Text 28"/>
          <p:cNvSpPr/>
          <p:nvPr/>
        </p:nvSpPr>
        <p:spPr>
          <a:xfrm>
            <a:off x="5230368" y="15179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답변 전 강제되는 순서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285232" y="1938528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2" name="Text 30"/>
          <p:cNvSpPr/>
          <p:nvPr/>
        </p:nvSpPr>
        <p:spPr>
          <a:xfrm>
            <a:off x="5285232" y="192755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760720" y="19385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질문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468112" y="2304288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85232" y="2505456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6" name="Text 34"/>
          <p:cNvSpPr/>
          <p:nvPr/>
        </p:nvSpPr>
        <p:spPr>
          <a:xfrm>
            <a:off x="5285232" y="24944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760720" y="250545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지식베이스 검색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468112" y="2871216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285232" y="3072384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0" name="Text 38"/>
          <p:cNvSpPr/>
          <p:nvPr/>
        </p:nvSpPr>
        <p:spPr>
          <a:xfrm>
            <a:off x="5285232" y="30614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760720" y="30723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인용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5468112" y="3438144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285232" y="3639312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44" name="Text 42"/>
          <p:cNvSpPr/>
          <p:nvPr/>
        </p:nvSpPr>
        <p:spPr>
          <a:xfrm>
            <a:off x="5285232" y="362833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760720" y="36393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답변 (출처 · 갱신일 표시)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230368" y="413308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근거를 찾지 못한 답변은 반려합니다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41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914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마치며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41732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데이터를 모으는 사람보다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해석하는 사람</a:t>
            </a:r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강합니다.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잘 쓰는 사람보다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검증할 줄 아는 사람</a:t>
            </a:r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이깁니다.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39776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11개 모듈이 끝나면 크롤러 몇 개가 아니라, 스스로 유지·보수되는 나만의 AI 투자 운영체계가 남습니다.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부동산 경매 투자</dc:title>
  <dc:subject>PptxGenJS Presentation</dc:subject>
  <dc:creator>FASTCAMPUS</dc:creator>
  <cp:lastModifiedBy>FASTCAMPUS</cp:lastModifiedBy>
  <cp:revision>1</cp:revision>
  <dcterms:created xsi:type="dcterms:W3CDTF">2026-07-08T23:08:23Z</dcterms:created>
  <dcterms:modified xsi:type="dcterms:W3CDTF">2026-07-08T23:08:23Z</dcterms:modified>
</cp:coreProperties>
</file>